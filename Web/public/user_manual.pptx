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5"/>
  </p:notesMasterIdLst>
  <p:sldIdLst>
    <p:sldId id="256" r:id="rId2"/>
    <p:sldId id="257" r:id="rId3"/>
    <p:sldId id="258" r:id="rId4"/>
    <p:sldId id="280" r:id="rId5"/>
    <p:sldId id="282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79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83" r:id="rId28"/>
    <p:sldId id="284" r:id="rId29"/>
    <p:sldId id="285" r:id="rId30"/>
    <p:sldId id="286" r:id="rId31"/>
    <p:sldId id="287" r:id="rId32"/>
    <p:sldId id="288" r:id="rId33"/>
    <p:sldId id="289" r:id="rId3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414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bleStyles" Target="tableStyle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3035120-4656-4FB9-B450-D26C14F592E8}" type="datetimeFigureOut">
              <a:rPr lang="en-IN" smtClean="0"/>
              <a:t>18-02-2026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D4EB5AE-70A0-40D6-A675-76151663B25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2806094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CED1C9-5DA5-4AFD-9AC9-1D90862E88FE}" type="datetimeFigureOut">
              <a:rPr lang="en-IN" smtClean="0"/>
              <a:t>18-02-2026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7CBA89-5B1E-4CC6-9D0E-E1CA6345B88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562554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CED1C9-5DA5-4AFD-9AC9-1D90862E88FE}" type="datetimeFigureOut">
              <a:rPr lang="en-IN" smtClean="0"/>
              <a:t>18-02-2026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7CBA89-5B1E-4CC6-9D0E-E1CA6345B88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442618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CED1C9-5DA5-4AFD-9AC9-1D90862E88FE}" type="datetimeFigureOut">
              <a:rPr lang="en-IN" smtClean="0"/>
              <a:t>18-02-2026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7CBA89-5B1E-4CC6-9D0E-E1CA6345B88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048929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CED1C9-5DA5-4AFD-9AC9-1D90862E88FE}" type="datetimeFigureOut">
              <a:rPr lang="en-IN" smtClean="0"/>
              <a:t>18-02-2026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7CBA89-5B1E-4CC6-9D0E-E1CA6345B88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632952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CED1C9-5DA5-4AFD-9AC9-1D90862E88FE}" type="datetimeFigureOut">
              <a:rPr lang="en-IN" smtClean="0"/>
              <a:t>18-02-2026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7CBA89-5B1E-4CC6-9D0E-E1CA6345B88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462411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CED1C9-5DA5-4AFD-9AC9-1D90862E88FE}" type="datetimeFigureOut">
              <a:rPr lang="en-IN" smtClean="0"/>
              <a:t>18-02-2026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7CBA89-5B1E-4CC6-9D0E-E1CA6345B88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299685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CED1C9-5DA5-4AFD-9AC9-1D90862E88FE}" type="datetimeFigureOut">
              <a:rPr lang="en-IN" smtClean="0"/>
              <a:t>18-02-2026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7CBA89-5B1E-4CC6-9D0E-E1CA6345B88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050804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CED1C9-5DA5-4AFD-9AC9-1D90862E88FE}" type="datetimeFigureOut">
              <a:rPr lang="en-IN" smtClean="0"/>
              <a:t>18-02-2026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7CBA89-5B1E-4CC6-9D0E-E1CA6345B88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136204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CED1C9-5DA5-4AFD-9AC9-1D90862E88FE}" type="datetimeFigureOut">
              <a:rPr lang="en-IN" smtClean="0"/>
              <a:t>18-02-2026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7CBA89-5B1E-4CC6-9D0E-E1CA6345B88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769352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CED1C9-5DA5-4AFD-9AC9-1D90862E88FE}" type="datetimeFigureOut">
              <a:rPr lang="en-IN" smtClean="0"/>
              <a:t>18-02-2026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7CBA89-5B1E-4CC6-9D0E-E1CA6345B88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788183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CED1C9-5DA5-4AFD-9AC9-1D90862E88FE}" type="datetimeFigureOut">
              <a:rPr lang="en-IN" smtClean="0"/>
              <a:t>18-02-2026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7CBA89-5B1E-4CC6-9D0E-E1CA6345B88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217990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FCED1C9-5DA5-4AFD-9AC9-1D90862E88FE}" type="datetimeFigureOut">
              <a:rPr lang="en-IN" smtClean="0"/>
              <a:t>18-02-2026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7CBA89-5B1E-4CC6-9D0E-E1CA6345B88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186471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9.png"/><Relationship Id="rId4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7" Type="http://schemas.openxmlformats.org/officeDocument/2006/relationships/image" Target="../media/image21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jpeg"/><Relationship Id="rId2" Type="http://schemas.openxmlformats.org/officeDocument/2006/relationships/image" Target="../media/image25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7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2.png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jpe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8.jpeg"/><Relationship Id="rId4" Type="http://schemas.openxmlformats.org/officeDocument/2006/relationships/image" Target="../media/image37.jpe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jpe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1.jpe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6.png"/><Relationship Id="rId5" Type="http://schemas.openxmlformats.org/officeDocument/2006/relationships/image" Target="../media/image45.png"/><Relationship Id="rId4" Type="http://schemas.openxmlformats.org/officeDocument/2006/relationships/image" Target="../media/image44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9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2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6.png"/><Relationship Id="rId4" Type="http://schemas.openxmlformats.org/officeDocument/2006/relationships/image" Target="../media/image55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9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png"/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4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6.png"/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8.png"/><Relationship Id="rId4" Type="http://schemas.openxmlformats.org/officeDocument/2006/relationships/image" Target="../media/image67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png"/><Relationship Id="rId2" Type="http://schemas.openxmlformats.org/officeDocument/2006/relationships/image" Target="../media/image6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png"/><Relationship Id="rId5" Type="http://schemas.openxmlformats.org/officeDocument/2006/relationships/image" Target="../media/image21.png"/><Relationship Id="rId4" Type="http://schemas.openxmlformats.org/officeDocument/2006/relationships/image" Target="../media/image71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3.png"/><Relationship Id="rId2" Type="http://schemas.openxmlformats.org/officeDocument/2006/relationships/image" Target="../media/image7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5.png"/><Relationship Id="rId4" Type="http://schemas.openxmlformats.org/officeDocument/2006/relationships/image" Target="../media/image74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7.png"/><Relationship Id="rId2" Type="http://schemas.openxmlformats.org/officeDocument/2006/relationships/image" Target="../media/image76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9.png"/><Relationship Id="rId4" Type="http://schemas.openxmlformats.org/officeDocument/2006/relationships/image" Target="../media/image78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1.png"/><Relationship Id="rId2" Type="http://schemas.openxmlformats.org/officeDocument/2006/relationships/image" Target="../media/image80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1.png"/><Relationship Id="rId4" Type="http://schemas.openxmlformats.org/officeDocument/2006/relationships/image" Target="../media/image82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4.png"/><Relationship Id="rId2" Type="http://schemas.openxmlformats.org/officeDocument/2006/relationships/image" Target="../media/image8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86.png"/><Relationship Id="rId4" Type="http://schemas.openxmlformats.org/officeDocument/2006/relationships/image" Target="../media/image85.png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8.jpeg"/><Relationship Id="rId2" Type="http://schemas.openxmlformats.org/officeDocument/2006/relationships/image" Target="../media/image87.jp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5060687" y="2705100"/>
            <a:ext cx="2283254" cy="86177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AGRHI</a:t>
            </a:r>
            <a:endParaRPr lang="en-US" sz="3000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Mobile Application</a:t>
            </a:r>
            <a:endParaRPr lang="en-I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679154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69577" y="47625"/>
            <a:ext cx="1963024" cy="4253218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7187" r="88"/>
          <a:stretch/>
        </p:blipFill>
        <p:spPr>
          <a:xfrm>
            <a:off x="2669577" y="4145944"/>
            <a:ext cx="1963024" cy="2673956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80680" y="714375"/>
            <a:ext cx="2461846" cy="533400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3846" y="714375"/>
            <a:ext cx="2461846" cy="533400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4716487" y="1835140"/>
            <a:ext cx="4446564" cy="33239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b="0" i="0" dirty="0" smtClean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Open </a:t>
            </a:r>
            <a:r>
              <a:rPr lang="en-US" sz="1400" b="1" i="0" dirty="0" smtClean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AGRHI</a:t>
            </a:r>
            <a:r>
              <a:rPr lang="en-US" sz="1400" b="0" i="0" dirty="0" smtClean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and choose </a:t>
            </a:r>
            <a:r>
              <a:rPr lang="en-US" sz="1400" b="1" i="0" dirty="0" smtClean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Sign Up</a:t>
            </a:r>
            <a:r>
              <a:rPr lang="en-US" sz="1400" b="0" i="0" dirty="0" smtClean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to create a new account, or </a:t>
            </a:r>
            <a:r>
              <a:rPr lang="en-US" sz="1400" b="1" i="0" dirty="0" smtClean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Sign In</a:t>
            </a:r>
            <a:r>
              <a:rPr lang="en-US" sz="1400" b="0" i="0" dirty="0" smtClean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if you already have one.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b="0" i="0" dirty="0" smtClean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For registration, fill Full Name, Phone Number, Email Address, Date of Birth, Address, and Postal Code.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b="0" i="0" dirty="0" smtClean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Select your Category from the list: Farmer / Expert / Retailer / Consumer.​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b="0" i="0" dirty="0" smtClean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Create a Password and re-enter it in Verify Password; use the eye icon to show/hide password text.​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b="0" i="0" dirty="0" smtClean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Tap Sign Up to register, then use Sign In to log in with your phone number and password.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776239" y="545098"/>
            <a:ext cx="246080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REGISTER AND LOGIN</a:t>
            </a:r>
            <a:endParaRPr lang="en-IN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1903978" y="167780"/>
            <a:ext cx="248786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en-IN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324730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3928" y="802301"/>
            <a:ext cx="2708032" cy="5867401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5838825" y="2576036"/>
            <a:ext cx="6096000" cy="1384995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lang="en-US" sz="1400" b="0" i="0" dirty="0" smtClean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After a successful </a:t>
            </a:r>
            <a:r>
              <a:rPr lang="en-US" sz="1400" b="1" i="0" dirty="0" smtClean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Sign In</a:t>
            </a:r>
            <a:r>
              <a:rPr lang="en-US" sz="1400" b="0" i="0" dirty="0" smtClean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you are redirected to the </a:t>
            </a:r>
            <a:r>
              <a:rPr lang="en-US" sz="1400" b="1" i="0" dirty="0" smtClean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Dashboard</a:t>
            </a:r>
            <a:r>
              <a:rPr lang="en-US" sz="1400" b="0" i="0" dirty="0" smtClean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.​</a:t>
            </a:r>
          </a:p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lang="en-US" sz="1400" b="0" i="0" dirty="0" smtClean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On the </a:t>
            </a:r>
            <a:r>
              <a:rPr lang="en-US" sz="1400" b="1" i="0" dirty="0" smtClean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Dashboard</a:t>
            </a:r>
            <a:r>
              <a:rPr lang="en-US" sz="1400" b="0" i="0" dirty="0" smtClean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you can view the Weather card which had current weather conditions, you can view Profile card, and the available app Features.​</a:t>
            </a:r>
          </a:p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lang="en-US" sz="1400" b="0" i="0" dirty="0" smtClean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Tap the Profile card to open your Profile page.</a:t>
            </a:r>
            <a:endParaRPr lang="en-US" sz="1400" b="0" i="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2" name="Straight Arrow Connector 11"/>
          <p:cNvCxnSpPr/>
          <p:nvPr/>
        </p:nvCxnSpPr>
        <p:spPr>
          <a:xfrm flipH="1">
            <a:off x="3361960" y="2088177"/>
            <a:ext cx="39089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4" name="Straight Arrow Connector 13"/>
          <p:cNvCxnSpPr/>
          <p:nvPr/>
        </p:nvCxnSpPr>
        <p:spPr>
          <a:xfrm flipH="1">
            <a:off x="3361960" y="3527910"/>
            <a:ext cx="39089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5" name="Right Brace 14"/>
          <p:cNvSpPr/>
          <p:nvPr/>
        </p:nvSpPr>
        <p:spPr>
          <a:xfrm>
            <a:off x="3467100" y="4717077"/>
            <a:ext cx="285750" cy="1838325"/>
          </a:xfrm>
          <a:prstGeom prst="rightBrac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6" name="TextBox 15"/>
          <p:cNvSpPr txBox="1"/>
          <p:nvPr/>
        </p:nvSpPr>
        <p:spPr>
          <a:xfrm>
            <a:off x="3886200" y="1934288"/>
            <a:ext cx="123431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Weather card</a:t>
            </a:r>
            <a:endParaRPr lang="en-IN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3886200" y="3374021"/>
            <a:ext cx="109350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Profile card</a:t>
            </a:r>
            <a:endParaRPr lang="en-IN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3886200" y="5482350"/>
            <a:ext cx="122334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App Features</a:t>
            </a:r>
            <a:endParaRPr lang="en-IN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5009110" y="432969"/>
            <a:ext cx="165942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DASHBOARD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11903978" y="167780"/>
            <a:ext cx="248786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en-IN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502877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/>
          <p:cNvGrpSpPr/>
          <p:nvPr/>
        </p:nvGrpSpPr>
        <p:grpSpPr>
          <a:xfrm>
            <a:off x="1150661" y="726667"/>
            <a:ext cx="9833673" cy="5510344"/>
            <a:chOff x="1150661" y="726667"/>
            <a:chExt cx="9833673" cy="5510344"/>
          </a:xfrm>
        </p:grpSpPr>
        <p:grpSp>
          <p:nvGrpSpPr>
            <p:cNvPr id="7" name="Group 6"/>
            <p:cNvGrpSpPr/>
            <p:nvPr/>
          </p:nvGrpSpPr>
          <p:grpSpPr>
            <a:xfrm>
              <a:off x="1150661" y="726667"/>
              <a:ext cx="9833673" cy="5510344"/>
              <a:chOff x="1346958" y="828675"/>
              <a:chExt cx="9568895" cy="5210175"/>
            </a:xfrm>
          </p:grpSpPr>
          <p:pic>
            <p:nvPicPr>
              <p:cNvPr id="2" name="Picture 1"/>
              <p:cNvPicPr>
                <a:picLocks noChangeAspect="1"/>
              </p:cNvPicPr>
              <p:nvPr/>
            </p:nvPicPr>
            <p:blipFill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4970054" y="828675"/>
                <a:ext cx="2404697" cy="5210175"/>
              </a:xfrm>
              <a:prstGeom prst="rect">
                <a:avLst/>
              </a:prstGeom>
            </p:spPr>
          </p:pic>
          <p:pic>
            <p:nvPicPr>
              <p:cNvPr id="3" name="Picture 2"/>
              <p:cNvPicPr>
                <a:picLocks noChangeAspect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346958" y="828675"/>
                <a:ext cx="2404697" cy="5210175"/>
              </a:xfrm>
              <a:prstGeom prst="rect">
                <a:avLst/>
              </a:prstGeom>
            </p:spPr>
          </p:pic>
          <p:pic>
            <p:nvPicPr>
              <p:cNvPr id="4" name="Picture 3"/>
              <p:cNvPicPr>
                <a:picLocks noChangeAspect="1"/>
              </p:cNvPicPr>
              <p:nvPr/>
            </p:nvPicPr>
            <p:blipFill>
              <a:blip r:embed="rId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8511156" y="828675"/>
                <a:ext cx="2404697" cy="5210175"/>
              </a:xfrm>
              <a:prstGeom prst="rect">
                <a:avLst/>
              </a:prstGeom>
            </p:spPr>
          </p:pic>
        </p:grpSp>
        <p:pic>
          <p:nvPicPr>
            <p:cNvPr id="6" name="Picture 5"/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101850" y="2101850"/>
              <a:ext cx="352425" cy="104775"/>
            </a:xfrm>
            <a:prstGeom prst="rect">
              <a:avLst/>
            </a:prstGeom>
          </p:spPr>
        </p:pic>
        <p:pic>
          <p:nvPicPr>
            <p:cNvPr id="8" name="Picture 7"/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842259" y="2101850"/>
              <a:ext cx="352425" cy="104775"/>
            </a:xfrm>
            <a:prstGeom prst="rect">
              <a:avLst/>
            </a:prstGeom>
          </p:spPr>
        </p:pic>
        <p:pic>
          <p:nvPicPr>
            <p:cNvPr id="9" name="Picture 8"/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466946" y="3014662"/>
              <a:ext cx="435879" cy="104775"/>
            </a:xfrm>
            <a:prstGeom prst="rect">
              <a:avLst/>
            </a:prstGeom>
          </p:spPr>
        </p:pic>
      </p:grpSp>
      <p:sp>
        <p:nvSpPr>
          <p:cNvPr id="11" name="TextBox 10"/>
          <p:cNvSpPr txBox="1"/>
          <p:nvPr/>
        </p:nvSpPr>
        <p:spPr>
          <a:xfrm>
            <a:off x="1767776" y="6305550"/>
            <a:ext cx="123700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RETAILER</a:t>
            </a:r>
            <a:endParaRPr lang="en-IN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491126" y="6305550"/>
            <a:ext cx="106708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FARMER</a:t>
            </a:r>
            <a:endParaRPr lang="en-IN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9059263" y="6305550"/>
            <a:ext cx="137890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CONSUMER</a:t>
            </a:r>
            <a:endParaRPr lang="en-IN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11903978" y="167780"/>
            <a:ext cx="248786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endParaRPr lang="en-IN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749266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84583" y="343949"/>
            <a:ext cx="32591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MULTILINGUAL FEATURE</a:t>
            </a:r>
          </a:p>
        </p:txBody>
      </p:sp>
      <p:sp>
        <p:nvSpPr>
          <p:cNvPr id="3" name="Rectangle 2"/>
          <p:cNvSpPr/>
          <p:nvPr/>
        </p:nvSpPr>
        <p:spPr>
          <a:xfrm>
            <a:off x="389301" y="1941895"/>
            <a:ext cx="4510481" cy="29621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400" b="0" i="0" dirty="0" smtClean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1400" b="1" i="0" dirty="0" smtClean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AGRHI </a:t>
            </a:r>
            <a:r>
              <a:rPr lang="en-IN" sz="1400" b="0" i="0" dirty="0" smtClean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supports seven languages: Tamil, English, Hindi, Telugu, Greek, Turkish, and Malay - available as downloadable content (20 MB per language).</a:t>
            </a:r>
          </a:p>
          <a:p>
            <a:pPr algn="just">
              <a:lnSpc>
                <a:spcPct val="150000"/>
              </a:lnSpc>
            </a:pPr>
            <a:endParaRPr lang="en-IN" sz="1400" b="0" i="0" dirty="0" smtClean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400" b="0" i="0" dirty="0" smtClean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Users can select preferred language during setup and switch anytime.</a:t>
            </a:r>
          </a:p>
          <a:p>
            <a:pPr algn="just">
              <a:lnSpc>
                <a:spcPct val="150000"/>
              </a:lnSpc>
            </a:pPr>
            <a:endParaRPr lang="en-IN" sz="1400" b="0" i="0" dirty="0" smtClean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400" b="0" i="0" dirty="0" smtClean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All interface elements and notifications are localized for cultural appropriateness.</a:t>
            </a:r>
            <a:endParaRPr lang="en-IN" sz="1400" b="0" i="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85554" y="1178781"/>
            <a:ext cx="2142954" cy="4717193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66560" y="1178781"/>
            <a:ext cx="2142953" cy="4717193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13353" y="1178780"/>
            <a:ext cx="2177166" cy="4717193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1903978" y="167780"/>
            <a:ext cx="248786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endParaRPr lang="en-IN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81712" y="3370586"/>
            <a:ext cx="528637" cy="144139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77526" y="3175647"/>
            <a:ext cx="536680" cy="1402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87265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8085" y="1076325"/>
            <a:ext cx="2391508" cy="5181600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99410" y="1076325"/>
            <a:ext cx="2391508" cy="5181600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42585" y="1076325"/>
            <a:ext cx="2391508" cy="518160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2867025" y="1896160"/>
            <a:ext cx="3562350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0" i="0" dirty="0" smtClean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 the Profile page, check your personal details (email, phone, and date of birth) and verify your mail address.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If your email is not verified,</a:t>
            </a:r>
          </a:p>
        </p:txBody>
      </p:sp>
      <p:cxnSp>
        <p:nvCxnSpPr>
          <p:cNvPr id="7" name="Curved Connector 6"/>
          <p:cNvCxnSpPr/>
          <p:nvPr/>
        </p:nvCxnSpPr>
        <p:spPr>
          <a:xfrm flipV="1">
            <a:off x="2365864" y="3095625"/>
            <a:ext cx="619125" cy="428625"/>
          </a:xfrm>
          <a:prstGeom prst="curvedConnector3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2984989" y="2941736"/>
            <a:ext cx="305705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Tap verify, and it will direct to this page</a:t>
            </a:r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0" name="Straight Arrow Connector 9"/>
          <p:cNvCxnSpPr>
            <a:stCxn id="8" idx="3"/>
          </p:cNvCxnSpPr>
          <p:nvPr/>
        </p:nvCxnSpPr>
        <p:spPr>
          <a:xfrm flipV="1">
            <a:off x="6042044" y="3095624"/>
            <a:ext cx="957366" cy="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4" name="Straight Arrow Connector 13"/>
          <p:cNvCxnSpPr/>
          <p:nvPr/>
        </p:nvCxnSpPr>
        <p:spPr>
          <a:xfrm flipH="1">
            <a:off x="6042046" y="3524250"/>
            <a:ext cx="1273154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3620234" y="3262640"/>
            <a:ext cx="268605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Tap this and a verification code has sent to your mail address.</a:t>
            </a:r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2867025" y="3939242"/>
            <a:ext cx="356235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0" i="0" dirty="0" smtClean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enter the 6-digit OTP, and tap Verify Code to complete email verification.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799699" y="339926"/>
            <a:ext cx="448468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PROFILE PAGE AND EMAIL VERIFICATION</a:t>
            </a:r>
            <a:endParaRPr lang="en-IN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11903978" y="167780"/>
            <a:ext cx="248786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endParaRPr lang="en-IN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678794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23391" y="771526"/>
            <a:ext cx="2221523" cy="4813300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77178" y="771526"/>
            <a:ext cx="2221523" cy="4813300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30965" y="771526"/>
            <a:ext cx="2221523" cy="481330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46652" y="771526"/>
            <a:ext cx="2221523" cy="481330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704" y="771526"/>
            <a:ext cx="2221523" cy="48133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65940" y="5677585"/>
            <a:ext cx="2305050" cy="7386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Font typeface="+mj-lt"/>
              <a:buAutoNum type="arabicPeriod"/>
            </a:pPr>
            <a:r>
              <a:rPr lang="en-US" sz="1400" b="0" i="0" dirty="0" smtClean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Tap the camera icon on the profile avatar to update your profile photo.</a:t>
            </a:r>
            <a:endParaRPr lang="en-US" sz="1400" b="0" i="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2506539" y="5697320"/>
            <a:ext cx="2238375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sz="1400" b="0" i="0" dirty="0" smtClean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2. Choose a source: </a:t>
            </a:r>
          </a:p>
          <a:p>
            <a:pPr algn="just"/>
            <a:r>
              <a:rPr lang="en-US" sz="1400" b="0" i="0" dirty="0" smtClean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Take Photo (use camera) or Choose from Gallery (select an existing image).</a:t>
            </a:r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4963990" y="5659905"/>
            <a:ext cx="2234711" cy="116955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sz="1400" b="0" i="0" dirty="0" smtClean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3. Adjust the image in the crop screen (pinch to zoom and drag to reposition),then </a:t>
            </a:r>
            <a:r>
              <a:rPr lang="en-US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sz="1400" b="0" i="0" dirty="0" smtClean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ap Confirm to apply the photo.</a:t>
            </a:r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7593258" y="5675205"/>
            <a:ext cx="4396886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b="0" i="0" dirty="0" smtClean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4. Verify the update is saved by checking the new profile picture on the Profile page and in dashboard.</a:t>
            </a:r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4423327" y="179989"/>
            <a:ext cx="33160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SET YOUR PROFILE PHOTO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11903978" y="167780"/>
            <a:ext cx="248786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  <a:endParaRPr lang="en-IN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1707" y="3318096"/>
            <a:ext cx="892730" cy="119919"/>
          </a:xfrm>
          <a:prstGeom prst="rect">
            <a:avLst/>
          </a:prstGeom>
        </p:spPr>
      </p:pic>
      <p:pic>
        <p:nvPicPr>
          <p:cNvPr id="14" name="Picture 13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1707" y="3806056"/>
            <a:ext cx="371418" cy="1199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40940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0459" y="838200"/>
            <a:ext cx="2584939" cy="5600700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46509" y="838200"/>
            <a:ext cx="2584939" cy="5600700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32559" y="838200"/>
            <a:ext cx="2584939" cy="560070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8218609" y="2258020"/>
            <a:ext cx="3810000" cy="235449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If you forgot the password while login,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b="0" i="0" dirty="0" smtClean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tap </a:t>
            </a:r>
            <a:r>
              <a:rPr lang="en-US" sz="1400" b="1" i="0" dirty="0" smtClean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Forgot Password?</a:t>
            </a:r>
            <a:r>
              <a:rPr lang="en-US" sz="1400" b="0" i="0" dirty="0" smtClean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to open the </a:t>
            </a:r>
            <a:r>
              <a:rPr lang="en-US" sz="1400" b="1" i="0" dirty="0" smtClean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password recovery page</a:t>
            </a:r>
            <a:r>
              <a:rPr lang="en-US" sz="1400" b="0" i="0" dirty="0" smtClean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Enter your </a:t>
            </a:r>
            <a:r>
              <a:rPr lang="en-US" sz="1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registered mobile number </a:t>
            </a:r>
            <a:r>
              <a:rPr lang="en-US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and tap </a:t>
            </a:r>
            <a:r>
              <a:rPr lang="en-US" sz="1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Send Reset Link</a:t>
            </a:r>
            <a:r>
              <a:rPr lang="en-US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Check your email inbox for the “</a:t>
            </a:r>
            <a:r>
              <a:rPr lang="en-US" sz="1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Reset Your Password</a:t>
            </a:r>
            <a:r>
              <a:rPr lang="en-US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” message and open it.</a:t>
            </a:r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4848225" y="257175"/>
            <a:ext cx="26479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FORGOT PASSWORD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1903978" y="167780"/>
            <a:ext cx="248786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7</a:t>
            </a:r>
            <a:endParaRPr lang="en-IN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012818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758" b="5089"/>
          <a:stretch/>
        </p:blipFill>
        <p:spPr>
          <a:xfrm>
            <a:off x="300402" y="1342240"/>
            <a:ext cx="2447862" cy="4647500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220" b="5395"/>
          <a:stretch/>
        </p:blipFill>
        <p:spPr>
          <a:xfrm>
            <a:off x="5596302" y="1367406"/>
            <a:ext cx="2447862" cy="4605555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990" b="6010"/>
          <a:stretch/>
        </p:blipFill>
        <p:spPr>
          <a:xfrm>
            <a:off x="2948352" y="1333849"/>
            <a:ext cx="2447862" cy="4639112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8124825" y="2214086"/>
            <a:ext cx="3914775" cy="235449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b="0" i="0" dirty="0" smtClean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Tap the </a:t>
            </a:r>
            <a:r>
              <a:rPr lang="en-US" sz="1400" b="1" i="0" dirty="0" smtClean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Reset Password</a:t>
            </a:r>
            <a:r>
              <a:rPr lang="en-US" sz="1400" b="0" i="0" dirty="0" smtClean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button in the email to open the password reset webpage.​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b="0" i="0" dirty="0" smtClean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On the </a:t>
            </a:r>
            <a:r>
              <a:rPr lang="en-US" sz="1400" b="1" i="0" dirty="0" smtClean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“Set New Password” </a:t>
            </a:r>
            <a:r>
              <a:rPr lang="en-US" sz="1400" b="0" i="0" dirty="0" smtClean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page, enter and confirm your new password, tap Reset Password.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sz="1400" b="0" i="0" dirty="0" smtClean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hen return to the mobile app and sign in using the updated password.</a:t>
            </a:r>
            <a:endParaRPr lang="en-US" sz="1400" b="0" i="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1903978" y="167780"/>
            <a:ext cx="248786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8</a:t>
            </a:r>
            <a:endParaRPr lang="en-IN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09844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725" y="601661"/>
            <a:ext cx="2307248" cy="4999037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48302" y="601654"/>
            <a:ext cx="2307248" cy="4999037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85970" y="601655"/>
            <a:ext cx="2307248" cy="4999037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58428" y="601656"/>
            <a:ext cx="2307248" cy="4999037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30886" y="601657"/>
            <a:ext cx="2307248" cy="4999037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158261" y="5687110"/>
            <a:ext cx="2162175" cy="738664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just"/>
            <a:r>
              <a:rPr lang="en-US" sz="1400" b="0" i="0" dirty="0" smtClean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1. From the </a:t>
            </a:r>
            <a:r>
              <a:rPr lang="en-US" sz="1400" b="1" i="0" dirty="0" smtClean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Dashboard</a:t>
            </a:r>
            <a:r>
              <a:rPr lang="en-US" sz="1400" b="0" i="0" dirty="0" smtClean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tap </a:t>
            </a:r>
            <a:r>
              <a:rPr lang="en-US" sz="1400" b="1" i="0" dirty="0" smtClean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Plant Doctor</a:t>
            </a:r>
            <a:r>
              <a:rPr lang="en-US" sz="1400" b="0" i="0" dirty="0" smtClean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for </a:t>
            </a:r>
            <a:r>
              <a:rPr lang="en-US" sz="1400" b="1" i="0" dirty="0" smtClean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crop disease detection</a:t>
            </a:r>
            <a:r>
              <a:rPr lang="en-US" sz="1400" b="0" i="0" dirty="0" smtClean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2421548" y="5639467"/>
            <a:ext cx="2647953" cy="1169551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just"/>
            <a:r>
              <a:rPr lang="en-US" sz="1400" b="0" i="0" dirty="0" smtClean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2. If no ML models are available, a </a:t>
            </a:r>
            <a:r>
              <a:rPr lang="en-US" sz="1400" b="1" i="0" dirty="0" smtClean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“No Models Downloaded” </a:t>
            </a:r>
            <a:r>
              <a:rPr lang="en-US" sz="1400" b="0" i="0" dirty="0" smtClean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message appears; tap Download Models to open the </a:t>
            </a:r>
            <a:r>
              <a:rPr lang="en-US" sz="1400" b="1" i="0" dirty="0" smtClean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Model Library.</a:t>
            </a:r>
            <a:endParaRPr lang="en-IN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5610225" y="5687101"/>
            <a:ext cx="6096000" cy="954107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>
            <a:spAutoFit/>
          </a:bodyPr>
          <a:lstStyle/>
          <a:p>
            <a:pPr marL="342900" indent="-342900" algn="just">
              <a:buFont typeface="+mj-lt"/>
              <a:buAutoNum type="arabicPeriod" startAt="3"/>
            </a:pPr>
            <a:r>
              <a:rPr lang="en-US" sz="1400" b="0" i="0" dirty="0" smtClean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 AI Models Library, select the required crop model from the 10 available options and download it until the status shows Ready.</a:t>
            </a:r>
          </a:p>
          <a:p>
            <a:pPr marL="342900" indent="-342900" algn="just">
              <a:buFont typeface="+mj-lt"/>
              <a:buAutoNum type="arabicPeriod" startAt="3"/>
            </a:pPr>
            <a:r>
              <a:rPr lang="en-US" sz="1400" b="0" i="0" dirty="0" smtClean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Once ready, return to Plant Doctor and start disease detection using the downloaded model.</a:t>
            </a:r>
            <a:endParaRPr lang="en-US" sz="1400" b="0" i="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4855550" y="145913"/>
            <a:ext cx="21578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MODEL LIBRARY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1903978" y="167780"/>
            <a:ext cx="248786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9</a:t>
            </a:r>
            <a:endParaRPr lang="en-IN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827604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19030" y="838199"/>
            <a:ext cx="2410178" cy="5305425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9535" y="838199"/>
            <a:ext cx="2448658" cy="5305425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5820045" y="2398663"/>
            <a:ext cx="6096000" cy="1708160"/>
          </a:xfrm>
          <a:prstGeom prst="rect">
            <a:avLst/>
          </a:prstGeom>
        </p:spPr>
        <p:txBody>
          <a:bodyPr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b="0" i="0" dirty="0" smtClean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 </a:t>
            </a:r>
            <a:r>
              <a:rPr lang="en-US" sz="1400" b="1" i="0" dirty="0" smtClean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Plant Doctor</a:t>
            </a:r>
            <a:r>
              <a:rPr lang="en-US" sz="1400" b="0" i="0" dirty="0" smtClean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select the required crop model from Select Crop (ensure the correct model is chosen for your crop).​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b="0" i="0" dirty="0" smtClean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Tap </a:t>
            </a:r>
            <a:r>
              <a:rPr lang="en-US" sz="1400" b="1" i="0" dirty="0" smtClean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Choose From Gallery</a:t>
            </a:r>
            <a:r>
              <a:rPr lang="en-US" sz="1400" b="0" i="0" dirty="0" smtClean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and select a </a:t>
            </a:r>
            <a:r>
              <a:rPr lang="en-US" sz="1400" b="1" i="0" dirty="0" smtClean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clear leaf image </a:t>
            </a:r>
            <a:r>
              <a:rPr lang="en-US" sz="1400" b="0" i="0" dirty="0" smtClean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for analysis.​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b="0" i="0" dirty="0" smtClean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app processes the image and displays the </a:t>
            </a:r>
            <a:r>
              <a:rPr lang="en-US" sz="1400" b="1" i="0" dirty="0" smtClean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Detection Results</a:t>
            </a:r>
            <a:r>
              <a:rPr lang="en-US" sz="1400" b="0" i="0" dirty="0" smtClean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including the </a:t>
            </a:r>
            <a:r>
              <a:rPr lang="en-US" sz="1400" b="1" i="0" dirty="0" smtClean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detected disease label </a:t>
            </a:r>
            <a:r>
              <a:rPr lang="en-US" sz="1400" b="0" i="0" dirty="0" smtClean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and </a:t>
            </a:r>
            <a:r>
              <a:rPr lang="en-US" sz="1400" b="1" i="0" dirty="0" smtClean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confidence score</a:t>
            </a:r>
            <a:r>
              <a:rPr lang="en-US" sz="1400" b="0" i="0" dirty="0" smtClean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1400" b="0" i="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4238625" y="104775"/>
            <a:ext cx="36576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PLANT DOCTOR</a:t>
            </a:r>
          </a:p>
          <a:p>
            <a:pPr algn="ctr"/>
            <a:r>
              <a:rPr lang="en-US" sz="1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(CROP DISEASE DETECTION MODULE)</a:t>
            </a:r>
            <a:endParaRPr lang="en-IN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1903978" y="167780"/>
            <a:ext cx="312906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10</a:t>
            </a:r>
            <a:endParaRPr lang="en-IN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216472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9584" y="742948"/>
            <a:ext cx="2312377" cy="5010151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45162" y="742947"/>
            <a:ext cx="2247077" cy="5010151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33895" y="742948"/>
            <a:ext cx="2247077" cy="5010151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62589" y="742948"/>
            <a:ext cx="2247077" cy="5010151"/>
          </a:xfrm>
          <a:prstGeom prst="rect">
            <a:avLst/>
          </a:prstGeom>
        </p:spPr>
      </p:pic>
      <p:sp>
        <p:nvSpPr>
          <p:cNvPr id="6" name="Oval 5"/>
          <p:cNvSpPr/>
          <p:nvPr/>
        </p:nvSpPr>
        <p:spPr>
          <a:xfrm>
            <a:off x="7202219" y="3486150"/>
            <a:ext cx="678068" cy="796861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8" name="Straight Arrow Connector 7"/>
          <p:cNvCxnSpPr/>
          <p:nvPr/>
        </p:nvCxnSpPr>
        <p:spPr>
          <a:xfrm>
            <a:off x="7994821" y="3900487"/>
            <a:ext cx="1530179" cy="557213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Rectangle 10"/>
          <p:cNvSpPr/>
          <p:nvPr/>
        </p:nvSpPr>
        <p:spPr>
          <a:xfrm>
            <a:off x="95250" y="5888752"/>
            <a:ext cx="3241047" cy="738664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just"/>
            <a:r>
              <a:rPr lang="en-US" sz="1400" b="0" i="0" dirty="0" smtClean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1. In Plant Doctor, select the crop model (e.g., Banana) and tap Smart Camera to start plant/leaf detection.</a:t>
            </a:r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4019550" y="5781030"/>
            <a:ext cx="4295775" cy="954107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just"/>
            <a:r>
              <a:rPr lang="en-US" sz="1400" b="0" i="0" dirty="0" smtClean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2. Point the camera at the leaf; the integrated ML model validates the frame in real time and allows capture only when a plant/leaf is detected (status shows “Ready” with confidence).</a:t>
            </a:r>
            <a:endParaRPr lang="en-US" sz="1400" b="0" i="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8998578" y="5781030"/>
            <a:ext cx="3032972" cy="954107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just"/>
            <a:r>
              <a:rPr lang="en-US" sz="1400" b="0" i="0" dirty="0" smtClean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3. Tap to capture, confirm with Use Photo, and view the Detection Results showing the identified disease and confidence level.</a:t>
            </a:r>
            <a:endParaRPr lang="en-US" sz="1400" b="0" i="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116252" y="247650"/>
            <a:ext cx="21023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SMART CAMERA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11903978" y="167780"/>
            <a:ext cx="312906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11</a:t>
            </a:r>
            <a:endParaRPr lang="en-IN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345189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1300" y="790575"/>
            <a:ext cx="2303585" cy="4991100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05951" y="790575"/>
            <a:ext cx="2238533" cy="4991100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68201" y="790575"/>
            <a:ext cx="2238533" cy="49911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253434" y="205800"/>
            <a:ext cx="36576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NON-PLANT DETECTION</a:t>
            </a:r>
            <a:endParaRPr lang="en-US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IN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3462258" y="2809071"/>
            <a:ext cx="2548459" cy="95410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If we upload a non-plant image, the model detects it as non-plant and could not predict with the disease detection models.</a:t>
            </a:r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8" name="Straight Arrow Connector 7"/>
          <p:cNvCxnSpPr>
            <a:stCxn id="6" idx="1"/>
          </p:cNvCxnSpPr>
          <p:nvPr/>
        </p:nvCxnSpPr>
        <p:spPr>
          <a:xfrm flipH="1" flipV="1">
            <a:off x="2795508" y="3285321"/>
            <a:ext cx="666750" cy="80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3462258" y="4703175"/>
            <a:ext cx="2755883" cy="30777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 result has been shown like this.</a:t>
            </a:r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1" name="Straight Arrow Connector 10"/>
          <p:cNvCxnSpPr>
            <a:stCxn id="9" idx="1"/>
          </p:cNvCxnSpPr>
          <p:nvPr/>
        </p:nvCxnSpPr>
        <p:spPr>
          <a:xfrm flipH="1">
            <a:off x="2795508" y="4857064"/>
            <a:ext cx="666750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6605951" y="6027718"/>
            <a:ext cx="5000783" cy="73866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 </a:t>
            </a:r>
            <a:r>
              <a:rPr lang="en-US" sz="1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Smart Camera module</a:t>
            </a:r>
            <a:r>
              <a:rPr lang="en-US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 if we try to capture non-plant image, The model predicts it as non-crop and requires recapture of crop image</a:t>
            </a:r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6" name="Straight Arrow Connector 15"/>
          <p:cNvCxnSpPr/>
          <p:nvPr/>
        </p:nvCxnSpPr>
        <p:spPr>
          <a:xfrm flipV="1">
            <a:off x="10487467" y="5419725"/>
            <a:ext cx="0" cy="60007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11903978" y="167780"/>
            <a:ext cx="312906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12</a:t>
            </a:r>
            <a:endParaRPr lang="en-IN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418078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535" y="676274"/>
            <a:ext cx="2246435" cy="4867275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6578" y="676275"/>
            <a:ext cx="2246435" cy="4867275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17897" y="676274"/>
            <a:ext cx="2246435" cy="4867275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59216" y="676274"/>
            <a:ext cx="2246435" cy="4867275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27955" y="676274"/>
            <a:ext cx="2246435" cy="4867275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2019300" y="5656987"/>
            <a:ext cx="6096000" cy="954107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>
            <a:spAutoFit/>
          </a:bodyPr>
          <a:lstStyle/>
          <a:p>
            <a:pPr algn="just">
              <a:buFont typeface="+mj-lt"/>
              <a:buAutoNum type="arabicPeriod"/>
            </a:pPr>
            <a:r>
              <a:rPr lang="en-US" sz="1400" b="0" i="0" dirty="0" smtClean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Open </a:t>
            </a:r>
            <a:r>
              <a:rPr lang="en-US" sz="1400" b="1" i="0" dirty="0" smtClean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Crop Care Manager</a:t>
            </a:r>
            <a:r>
              <a:rPr lang="en-US" sz="1400" b="0" i="0" dirty="0" smtClean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and go to the Farms tab; tap Add Farm to start creating your first farm.​</a:t>
            </a:r>
          </a:p>
          <a:p>
            <a:pPr algn="just">
              <a:buFont typeface="+mj-lt"/>
              <a:buAutoNum type="arabicPeriod"/>
            </a:pPr>
            <a:r>
              <a:rPr lang="en-US" sz="1400" b="0" i="0" dirty="0" smtClean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Enter the farm details </a:t>
            </a:r>
            <a:r>
              <a:rPr lang="en-US" sz="1400" b="1" i="0" dirty="0" smtClean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(Survey Number, Farm Size, Soil Type, Irrigation Methods, and Water Sources) </a:t>
            </a:r>
            <a:r>
              <a:rPr lang="en-US" sz="1400" b="0" i="0" dirty="0" smtClean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and confirm your selections, then tap Create Farm.</a:t>
            </a:r>
            <a:endParaRPr lang="en-US" sz="1400" b="0" i="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9580683" y="5684699"/>
            <a:ext cx="2540978" cy="73866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just"/>
            <a:r>
              <a:rPr lang="en-US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3. After the farm is created, the dashboard provides the summary of farm assets.</a:t>
            </a:r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4382187" y="91499"/>
            <a:ext cx="320049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CROP CARE MANAGER</a:t>
            </a:r>
          </a:p>
          <a:p>
            <a:pPr algn="ctr"/>
            <a:r>
              <a:rPr lang="en-US" sz="1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(FARM AND CROP MANAGEMENT)</a:t>
            </a:r>
            <a:endParaRPr lang="en-IN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11903978" y="167780"/>
            <a:ext cx="312906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13</a:t>
            </a:r>
            <a:endParaRPr lang="en-IN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021383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7610" y="1095375"/>
            <a:ext cx="2294792" cy="4972050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27435" y="1095375"/>
            <a:ext cx="2294792" cy="4972050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37260" y="1095375"/>
            <a:ext cx="2294792" cy="497205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7522552" y="2685187"/>
            <a:ext cx="4355123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1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Open </a:t>
            </a:r>
            <a:r>
              <a:rPr lang="en-US" alt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Add Crop</a:t>
            </a:r>
            <a:r>
              <a:rPr lang="en-US" altLang="en-US" sz="1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altLang="en-US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Now, in crops section, Add Crop.</a:t>
            </a:r>
            <a:endParaRPr lang="en-US" alt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1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Enter </a:t>
            </a:r>
            <a:r>
              <a:rPr lang="en-US" alt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Details:</a:t>
            </a:r>
            <a:r>
              <a:rPr lang="en-US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Select the </a:t>
            </a:r>
            <a:r>
              <a:rPr lang="en-US" altLang="en-US" sz="1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farm </a:t>
            </a:r>
            <a:r>
              <a:rPr lang="en-US" altLang="en-US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which was created in farms section, </a:t>
            </a:r>
            <a:r>
              <a:rPr lang="en-US" altLang="en-US" sz="1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crop </a:t>
            </a:r>
            <a:r>
              <a:rPr lang="en-US" alt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type</a:t>
            </a:r>
            <a:r>
              <a:rPr lang="en-US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specify the </a:t>
            </a:r>
            <a:r>
              <a:rPr lang="en-US" alt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field size</a:t>
            </a:r>
            <a:r>
              <a:rPr lang="en-US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 acres.</a:t>
            </a:r>
          </a:p>
          <a:p>
            <a:pPr lvl="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1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Set </a:t>
            </a:r>
            <a:r>
              <a:rPr lang="en-US" alt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Schedule:</a:t>
            </a:r>
            <a:r>
              <a:rPr lang="en-US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Choose the </a:t>
            </a:r>
            <a:r>
              <a:rPr lang="en-US" alt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planting and </a:t>
            </a:r>
            <a:r>
              <a:rPr lang="en-US" altLang="en-US" sz="1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expected harvest </a:t>
            </a:r>
            <a:r>
              <a:rPr lang="en-US" alt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dates</a:t>
            </a:r>
            <a:r>
              <a:rPr lang="en-US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then tap </a:t>
            </a:r>
            <a:r>
              <a:rPr lang="en-US" alt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"Create Crop"</a:t>
            </a:r>
            <a:r>
              <a:rPr lang="en-US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save.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903978" y="167780"/>
            <a:ext cx="312906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14</a:t>
            </a:r>
            <a:endParaRPr lang="en-IN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471965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23134" y="742949"/>
            <a:ext cx="2639891" cy="5719763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99684" y="742949"/>
            <a:ext cx="2639891" cy="5719763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8084" y="742948"/>
            <a:ext cx="2639891" cy="5719763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084634" y="1828800"/>
            <a:ext cx="297711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Once the crop is created, we can deactivate the crop manually.</a:t>
            </a:r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8" name="Curved Connector 7"/>
          <p:cNvCxnSpPr/>
          <p:nvPr/>
        </p:nvCxnSpPr>
        <p:spPr>
          <a:xfrm flipV="1">
            <a:off x="2647950" y="2609850"/>
            <a:ext cx="600075" cy="504825"/>
          </a:xfrm>
          <a:prstGeom prst="curvedConnector3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3248025" y="2455961"/>
            <a:ext cx="171418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Tap this to deactivate</a:t>
            </a:r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1" name="Straight Arrow Connector 10"/>
          <p:cNvCxnSpPr>
            <a:stCxn id="9" idx="3"/>
          </p:cNvCxnSpPr>
          <p:nvPr/>
        </p:nvCxnSpPr>
        <p:spPr>
          <a:xfrm flipV="1">
            <a:off x="4962212" y="2609849"/>
            <a:ext cx="1360922" cy="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3084634" y="3057525"/>
            <a:ext cx="283845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If we deactivated the crop, it will store in crop history module.</a:t>
            </a:r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1903978" y="167780"/>
            <a:ext cx="312906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15</a:t>
            </a:r>
            <a:endParaRPr lang="en-IN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814385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8083" y="1323975"/>
            <a:ext cx="2079381" cy="4505325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35693" y="1323973"/>
            <a:ext cx="2079381" cy="4505325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23209" y="1323974"/>
            <a:ext cx="2079381" cy="4505325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99759" y="1323974"/>
            <a:ext cx="2079381" cy="4505325"/>
          </a:xfrm>
          <a:prstGeom prst="rect">
            <a:avLst/>
          </a:prstGeom>
        </p:spPr>
      </p:pic>
      <p:cxnSp>
        <p:nvCxnSpPr>
          <p:cNvPr id="8" name="Straight Arrow Connector 7"/>
          <p:cNvCxnSpPr/>
          <p:nvPr/>
        </p:nvCxnSpPr>
        <p:spPr>
          <a:xfrm>
            <a:off x="2038350" y="2676525"/>
            <a:ext cx="552450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2565156" y="2495550"/>
            <a:ext cx="1552575" cy="52322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just"/>
            <a:r>
              <a:rPr lang="en-US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Tap the subsidy card to get details.</a:t>
            </a:r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1" name="Elbow Connector 10"/>
          <p:cNvCxnSpPr>
            <a:stCxn id="9" idx="2"/>
            <a:endCxn id="3" idx="1"/>
          </p:cNvCxnSpPr>
          <p:nvPr/>
        </p:nvCxnSpPr>
        <p:spPr>
          <a:xfrm rot="16200000" flipH="1">
            <a:off x="3509635" y="2850578"/>
            <a:ext cx="557866" cy="894249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5275383" y="6238875"/>
            <a:ext cx="5687967" cy="30777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To get more details, tap </a:t>
            </a:r>
            <a:r>
              <a:rPr lang="en-US" sz="1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more info </a:t>
            </a:r>
            <a:r>
              <a:rPr lang="en-US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and it will redirect to official </a:t>
            </a:r>
            <a:r>
              <a:rPr lang="en-US" sz="1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govt</a:t>
            </a:r>
            <a:r>
              <a:rPr lang="en-US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website</a:t>
            </a:r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8" name="Straight Arrow Connector 17"/>
          <p:cNvCxnSpPr/>
          <p:nvPr/>
        </p:nvCxnSpPr>
        <p:spPr>
          <a:xfrm flipH="1" flipV="1">
            <a:off x="5591175" y="5667375"/>
            <a:ext cx="390525" cy="57150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/>
          <p:cNvCxnSpPr/>
          <p:nvPr/>
        </p:nvCxnSpPr>
        <p:spPr>
          <a:xfrm>
            <a:off x="5786437" y="5495925"/>
            <a:ext cx="1136772" cy="952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/>
          <p:cNvCxnSpPr/>
          <p:nvPr/>
        </p:nvCxnSpPr>
        <p:spPr>
          <a:xfrm flipV="1">
            <a:off x="8731250" y="3914775"/>
            <a:ext cx="1068509" cy="317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4829175" y="374686"/>
            <a:ext cx="24865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SUBSIDIES MODULE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11903978" y="167780"/>
            <a:ext cx="312906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16</a:t>
            </a:r>
            <a:endParaRPr lang="en-IN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758518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137" y="885825"/>
            <a:ext cx="2202473" cy="4772025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65033" y="885825"/>
            <a:ext cx="2202473" cy="4772025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61566" y="885824"/>
            <a:ext cx="2202473" cy="4772025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7658100" y="1119485"/>
            <a:ext cx="4143375" cy="166949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Open the app</a:t>
            </a:r>
            <a:r>
              <a:rPr lang="en-US" sz="1400" dirty="0" smtClean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dirty="0" smtClean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On </a:t>
            </a:r>
            <a:r>
              <a:rPr lang="en-US" sz="1400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the Welcome Dashboard, tap Farm Store under Features</a:t>
            </a:r>
            <a:r>
              <a:rPr lang="en-US" sz="1400" dirty="0" smtClean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dirty="0" smtClean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If </a:t>
            </a:r>
            <a:r>
              <a:rPr lang="en-US" sz="1400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store location is not set, you will be redirected to Farm Store Setup.</a:t>
            </a:r>
            <a:endParaRPr lang="en-IN" sz="1400" dirty="0">
              <a:latin typeface="Times New Roman" panose="02020603050405020304" pitchFamily="18" charset="0"/>
              <a:ea typeface="Tahoma" panose="020B0604030504040204" pitchFamily="34" charset="0"/>
              <a:cs typeface="Times New Roman" panose="02020603050405020304" pitchFamily="18" charset="0"/>
            </a:endParaRPr>
          </a:p>
        </p:txBody>
      </p:sp>
      <p:cxnSp>
        <p:nvCxnSpPr>
          <p:cNvPr id="9" name="Straight Arrow Connector 8"/>
          <p:cNvCxnSpPr>
            <a:stCxn id="2" idx="3"/>
            <a:endCxn id="3" idx="1"/>
          </p:cNvCxnSpPr>
          <p:nvPr/>
        </p:nvCxnSpPr>
        <p:spPr>
          <a:xfrm>
            <a:off x="2430610" y="3271838"/>
            <a:ext cx="234423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1" name="Straight Arrow Connector 10"/>
          <p:cNvCxnSpPr>
            <a:stCxn id="3" idx="3"/>
            <a:endCxn id="4" idx="1"/>
          </p:cNvCxnSpPr>
          <p:nvPr/>
        </p:nvCxnSpPr>
        <p:spPr>
          <a:xfrm flipV="1">
            <a:off x="4867506" y="3271837"/>
            <a:ext cx="294060" cy="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2" name="Rectangle 11"/>
          <p:cNvSpPr/>
          <p:nvPr/>
        </p:nvSpPr>
        <p:spPr>
          <a:xfrm>
            <a:off x="7734300" y="2979448"/>
            <a:ext cx="4067175" cy="584775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sz="1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NOTE: </a:t>
            </a:r>
            <a:r>
              <a:rPr lang="en-US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This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 your permanent selling location. Set carefully.</a:t>
            </a: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7734300" y="3754690"/>
            <a:ext cx="3276600" cy="1708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 1: Open Location Setup</a:t>
            </a:r>
          </a:p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Tap </a:t>
            </a: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Get My Exact Location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 2: Read Important Notice</a:t>
            </a:r>
          </a:p>
          <a:p>
            <a:pPr>
              <a:lnSpc>
                <a:spcPct val="150000"/>
              </a:lnSpc>
              <a:buFont typeface="+mj-lt"/>
              <a:buAutoNum type="arabicPeriod" startAt="2"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Review the information popup.</a:t>
            </a:r>
          </a:p>
          <a:p>
            <a:pPr>
              <a:lnSpc>
                <a:spcPct val="150000"/>
              </a:lnSpc>
              <a:buFont typeface="+mj-lt"/>
              <a:buAutoNum type="arabicPeriod" startAt="2"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Tap </a:t>
            </a: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 Understand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continue.</a:t>
            </a:r>
          </a:p>
        </p:txBody>
      </p:sp>
      <p:cxnSp>
        <p:nvCxnSpPr>
          <p:cNvPr id="16" name="Straight Arrow Connector 15"/>
          <p:cNvCxnSpPr/>
          <p:nvPr/>
        </p:nvCxnSpPr>
        <p:spPr>
          <a:xfrm flipV="1">
            <a:off x="600075" y="5286375"/>
            <a:ext cx="0" cy="75247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224010" y="6038850"/>
            <a:ext cx="1400833" cy="30777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1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Tap Farm Store</a:t>
            </a:r>
            <a:endParaRPr lang="en-IN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2609766" y="6038850"/>
            <a:ext cx="2313005" cy="30777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1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Tap Get My Exact Location</a:t>
            </a:r>
            <a:endParaRPr lang="en-IN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20" name="Straight Arrow Connector 19"/>
          <p:cNvCxnSpPr>
            <a:stCxn id="18" idx="0"/>
          </p:cNvCxnSpPr>
          <p:nvPr/>
        </p:nvCxnSpPr>
        <p:spPr>
          <a:xfrm flipH="1" flipV="1">
            <a:off x="3766268" y="3390900"/>
            <a:ext cx="1" cy="264795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5519029" y="6038850"/>
            <a:ext cx="1545167" cy="30777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1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Tap I Understand</a:t>
            </a:r>
            <a:endParaRPr lang="en-IN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23" name="Straight Arrow Connector 22"/>
          <p:cNvCxnSpPr/>
          <p:nvPr/>
        </p:nvCxnSpPr>
        <p:spPr>
          <a:xfrm flipH="1" flipV="1">
            <a:off x="6638925" y="4381500"/>
            <a:ext cx="9525" cy="165735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5414877" y="320157"/>
            <a:ext cx="16958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FARM STORE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11903978" y="167780"/>
            <a:ext cx="312906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17</a:t>
            </a:r>
            <a:endParaRPr lang="en-IN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529886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4760" y="609600"/>
            <a:ext cx="2514600" cy="5448300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04460" y="609600"/>
            <a:ext cx="2514600" cy="544830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3113210" y="2086660"/>
            <a:ext cx="2933700" cy="1169551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sz="1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STEP 3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Your 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current GPS location appears on the map</a:t>
            </a:r>
            <a:r>
              <a:rPr lang="en-US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Tap 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anywhere within 100 meters to adjust if needed.</a:t>
            </a:r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5" name="Straight Arrow Connector 14"/>
          <p:cNvCxnSpPr>
            <a:stCxn id="10" idx="1"/>
          </p:cNvCxnSpPr>
          <p:nvPr/>
        </p:nvCxnSpPr>
        <p:spPr>
          <a:xfrm flipH="1" flipV="1">
            <a:off x="2228850" y="2671435"/>
            <a:ext cx="884360" cy="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6" name="Rectangle 15"/>
          <p:cNvSpPr/>
          <p:nvPr/>
        </p:nvSpPr>
        <p:spPr>
          <a:xfrm>
            <a:off x="3113210" y="3706297"/>
            <a:ext cx="2933700" cy="738664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sz="1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STEP 4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Verify 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address displayed under Your Selling Location.</a:t>
            </a:r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8" name="Straight Arrow Connector 17"/>
          <p:cNvCxnSpPr>
            <a:stCxn id="16" idx="1"/>
          </p:cNvCxnSpPr>
          <p:nvPr/>
        </p:nvCxnSpPr>
        <p:spPr>
          <a:xfrm flipH="1">
            <a:off x="2671030" y="4075629"/>
            <a:ext cx="44218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3113210" y="5226279"/>
            <a:ext cx="1902637" cy="30777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1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Tap Confirm Location</a:t>
            </a:r>
            <a:endParaRPr lang="en-IN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26" name="Elbow Connector 25"/>
          <p:cNvCxnSpPr>
            <a:stCxn id="19" idx="1"/>
          </p:cNvCxnSpPr>
          <p:nvPr/>
        </p:nvCxnSpPr>
        <p:spPr>
          <a:xfrm rot="10800000">
            <a:off x="1990726" y="4876800"/>
            <a:ext cx="1122485" cy="503368"/>
          </a:xfrm>
          <a:prstGeom prst="bentConnector3">
            <a:avLst>
              <a:gd name="adj1" fmla="val 99217"/>
            </a:avLst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9" name="Straight Arrow Connector 28"/>
          <p:cNvCxnSpPr/>
          <p:nvPr/>
        </p:nvCxnSpPr>
        <p:spPr>
          <a:xfrm>
            <a:off x="2789360" y="5829300"/>
            <a:ext cx="651510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0" name="Rectangle 29"/>
          <p:cNvSpPr/>
          <p:nvPr/>
        </p:nvSpPr>
        <p:spPr>
          <a:xfrm>
            <a:off x="6553200" y="2886879"/>
            <a:ext cx="2427409" cy="738664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sz="1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STEP 5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Review 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coordinates in the confirmation popup.</a:t>
            </a:r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32" name="Straight Arrow Connector 31"/>
          <p:cNvCxnSpPr>
            <a:stCxn id="30" idx="3"/>
          </p:cNvCxnSpPr>
          <p:nvPr/>
        </p:nvCxnSpPr>
        <p:spPr>
          <a:xfrm>
            <a:off x="8980609" y="3256211"/>
            <a:ext cx="687266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7766904" y="4573533"/>
            <a:ext cx="1179682" cy="30777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1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Tap Confirm</a:t>
            </a:r>
            <a:endParaRPr lang="en-IN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35" name="Elbow Connector 34"/>
          <p:cNvCxnSpPr>
            <a:stCxn id="33" idx="3"/>
          </p:cNvCxnSpPr>
          <p:nvPr/>
        </p:nvCxnSpPr>
        <p:spPr>
          <a:xfrm flipV="1">
            <a:off x="8946586" y="4248150"/>
            <a:ext cx="2235764" cy="479272"/>
          </a:xfrm>
          <a:prstGeom prst="bentConnector3">
            <a:avLst>
              <a:gd name="adj1" fmla="val 100271"/>
            </a:avLst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11903978" y="167780"/>
            <a:ext cx="312906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18</a:t>
            </a:r>
            <a:endParaRPr lang="en-IN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853838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7160" y="685799"/>
            <a:ext cx="2351942" cy="5095875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41810" y="685799"/>
            <a:ext cx="2351942" cy="5095875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75885" y="685800"/>
            <a:ext cx="2351942" cy="5095875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211748" y="6015335"/>
            <a:ext cx="2782765" cy="738664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sz="1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STEP 1: </a:t>
            </a: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Open My Farm Products</a:t>
            </a:r>
          </a:p>
          <a:p>
            <a:pPr>
              <a:buFont typeface="+mj-lt"/>
              <a:buAutoNum type="arabicPeriod"/>
            </a:pPr>
            <a:r>
              <a:rPr lang="en-US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Go 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</a:t>
            </a: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Farm Store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>
              <a:buFont typeface="+mj-lt"/>
              <a:buAutoNum type="arabicPeriod"/>
            </a:pPr>
            <a:r>
              <a:rPr lang="en-US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Tap </a:t>
            </a: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Add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or </a:t>
            </a: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Add Product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button.</a:t>
            </a:r>
          </a:p>
        </p:txBody>
      </p:sp>
      <p:cxnSp>
        <p:nvCxnSpPr>
          <p:cNvPr id="8" name="Straight Arrow Connector 7"/>
          <p:cNvCxnSpPr/>
          <p:nvPr/>
        </p:nvCxnSpPr>
        <p:spPr>
          <a:xfrm flipV="1">
            <a:off x="2314575" y="5572125"/>
            <a:ext cx="0" cy="44321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0" name="Straight Arrow Connector 9"/>
          <p:cNvCxnSpPr>
            <a:stCxn id="2" idx="3"/>
            <a:endCxn id="3" idx="1"/>
          </p:cNvCxnSpPr>
          <p:nvPr/>
        </p:nvCxnSpPr>
        <p:spPr>
          <a:xfrm>
            <a:off x="2779102" y="3233737"/>
            <a:ext cx="562708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Rectangle 10"/>
          <p:cNvSpPr/>
          <p:nvPr/>
        </p:nvSpPr>
        <p:spPr>
          <a:xfrm>
            <a:off x="5876925" y="1829485"/>
            <a:ext cx="2762250" cy="1169551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sz="1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STEP 2:</a:t>
            </a:r>
          </a:p>
          <a:p>
            <a:r>
              <a:rPr lang="en-US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Choose: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Camera</a:t>
            </a:r>
            <a:r>
              <a:rPr lang="en-US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(take photo</a:t>
            </a:r>
            <a:r>
              <a:rPr lang="en-US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Gallery</a:t>
            </a:r>
            <a:r>
              <a:rPr lang="en-US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(select existing image</a:t>
            </a:r>
            <a:r>
              <a:rPr lang="en-US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</a:p>
          <a:p>
            <a:r>
              <a:rPr lang="en-US" sz="1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Note: Use </a:t>
            </a: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clear, well-lit images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3" name="Straight Arrow Connector 12"/>
          <p:cNvCxnSpPr>
            <a:stCxn id="11" idx="1"/>
          </p:cNvCxnSpPr>
          <p:nvPr/>
        </p:nvCxnSpPr>
        <p:spPr>
          <a:xfrm flipH="1" flipV="1">
            <a:off x="5600700" y="2414260"/>
            <a:ext cx="276225" cy="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6248400" y="3476625"/>
            <a:ext cx="2390775" cy="116955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STEP 3:</a:t>
            </a:r>
            <a:r>
              <a:rPr lang="en-US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Enter product Information</a:t>
            </a:r>
          </a:p>
          <a:p>
            <a:r>
              <a:rPr lang="en-US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(Product name, variety, description, price, unit and quantity)</a:t>
            </a:r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6" name="Straight Arrow Connector 15"/>
          <p:cNvCxnSpPr>
            <a:stCxn id="14" idx="3"/>
          </p:cNvCxnSpPr>
          <p:nvPr/>
        </p:nvCxnSpPr>
        <p:spPr>
          <a:xfrm flipV="1">
            <a:off x="8639175" y="4061400"/>
            <a:ext cx="636710" cy="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6941851" y="5264348"/>
            <a:ext cx="1697324" cy="30777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1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Tap Create Product</a:t>
            </a:r>
            <a:endParaRPr lang="en-IN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9" name="Straight Arrow Connector 18"/>
          <p:cNvCxnSpPr>
            <a:stCxn id="17" idx="3"/>
          </p:cNvCxnSpPr>
          <p:nvPr/>
        </p:nvCxnSpPr>
        <p:spPr>
          <a:xfrm flipV="1">
            <a:off x="8639175" y="5418236"/>
            <a:ext cx="752475" cy="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11903978" y="167780"/>
            <a:ext cx="312906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19</a:t>
            </a:r>
            <a:endParaRPr lang="en-IN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453313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5222" y="723900"/>
            <a:ext cx="2435469" cy="5276850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44678" y="723900"/>
            <a:ext cx="2435469" cy="5276850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41243" y="723900"/>
            <a:ext cx="2435469" cy="527685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37809" y="723900"/>
            <a:ext cx="2435469" cy="527685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6675" y="323850"/>
            <a:ext cx="536390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If you are a </a:t>
            </a:r>
            <a:r>
              <a:rPr lang="en-US" sz="1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retailer</a:t>
            </a:r>
            <a:r>
              <a:rPr lang="en-US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 you can access </a:t>
            </a:r>
            <a:r>
              <a:rPr lang="en-US" sz="1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My shops </a:t>
            </a:r>
            <a:r>
              <a:rPr lang="en-US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feature to add your shop.</a:t>
            </a:r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740216" y="6324600"/>
            <a:ext cx="1285480" cy="30777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1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Tap My Shops</a:t>
            </a:r>
            <a:endParaRPr lang="en-IN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9" name="Straight Arrow Connector 8"/>
          <p:cNvCxnSpPr>
            <a:stCxn id="7" idx="0"/>
          </p:cNvCxnSpPr>
          <p:nvPr/>
        </p:nvCxnSpPr>
        <p:spPr>
          <a:xfrm flipV="1">
            <a:off x="1382956" y="5543550"/>
            <a:ext cx="0" cy="78105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2844678" y="6216878"/>
            <a:ext cx="2435469" cy="52322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Tap Add Shop to create the shop</a:t>
            </a:r>
            <a:endParaRPr lang="en-IN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2" name="Straight Arrow Connector 11"/>
          <p:cNvCxnSpPr/>
          <p:nvPr/>
        </p:nvCxnSpPr>
        <p:spPr>
          <a:xfrm flipV="1">
            <a:off x="4829175" y="5753100"/>
            <a:ext cx="0" cy="46377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4" name="Straight Arrow Connector 13"/>
          <p:cNvCxnSpPr>
            <a:stCxn id="2" idx="3"/>
            <a:endCxn id="3" idx="1"/>
          </p:cNvCxnSpPr>
          <p:nvPr/>
        </p:nvCxnSpPr>
        <p:spPr>
          <a:xfrm>
            <a:off x="2600691" y="3362325"/>
            <a:ext cx="243987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7" name="Straight Arrow Connector 16"/>
          <p:cNvCxnSpPr>
            <a:stCxn id="3" idx="3"/>
            <a:endCxn id="4" idx="1"/>
          </p:cNvCxnSpPr>
          <p:nvPr/>
        </p:nvCxnSpPr>
        <p:spPr>
          <a:xfrm>
            <a:off x="5280147" y="3362325"/>
            <a:ext cx="861096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5773155" y="6093024"/>
            <a:ext cx="3171644" cy="73866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Tap to </a:t>
            </a:r>
            <a:r>
              <a:rPr lang="en-US" sz="1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capture shop image</a:t>
            </a:r>
            <a:r>
              <a:rPr lang="en-US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Note: </a:t>
            </a:r>
            <a:r>
              <a:rPr lang="en-US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While you capture the image, your </a:t>
            </a:r>
            <a:r>
              <a:rPr lang="en-US" sz="1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GPS location </a:t>
            </a:r>
            <a:r>
              <a:rPr lang="en-US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can captured automatically</a:t>
            </a:r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21" name="Straight Arrow Connector 20"/>
          <p:cNvCxnSpPr>
            <a:stCxn id="18" idx="0"/>
          </p:cNvCxnSpPr>
          <p:nvPr/>
        </p:nvCxnSpPr>
        <p:spPr>
          <a:xfrm flipV="1">
            <a:off x="7358977" y="3286125"/>
            <a:ext cx="0" cy="280689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9245843" y="6134756"/>
            <a:ext cx="2819399" cy="52322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Verify your Shop Image, GPS coordinates and location on the map.</a:t>
            </a:r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24" name="Straight Arrow Connector 23"/>
          <p:cNvCxnSpPr>
            <a:stCxn id="4" idx="3"/>
            <a:endCxn id="5" idx="1"/>
          </p:cNvCxnSpPr>
          <p:nvPr/>
        </p:nvCxnSpPr>
        <p:spPr>
          <a:xfrm>
            <a:off x="8576712" y="3362325"/>
            <a:ext cx="861097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7819659" y="46851"/>
            <a:ext cx="237520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MY SHOPS</a:t>
            </a:r>
          </a:p>
          <a:p>
            <a:r>
              <a:rPr lang="en-US" sz="1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(RETAIL MANAGEMENT)</a:t>
            </a:r>
            <a:endParaRPr lang="en-IN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11903978" y="167780"/>
            <a:ext cx="312906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20</a:t>
            </a:r>
            <a:endParaRPr lang="en-IN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546742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85435" y="609600"/>
            <a:ext cx="2461846" cy="5334000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5347" y="609600"/>
            <a:ext cx="2461846" cy="5334000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08910" y="609600"/>
            <a:ext cx="2461846" cy="5334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6715" y="6029325"/>
            <a:ext cx="4599110" cy="73866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1. While creating the shop</a:t>
            </a:r>
            <a:br>
              <a:rPr lang="en-US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Enter shop phone number, shop address and Business Type.</a:t>
            </a:r>
            <a:br>
              <a:rPr lang="en-US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Enter Optional Registration details for </a:t>
            </a:r>
            <a:r>
              <a:rPr lang="en-US" sz="1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verification</a:t>
            </a:r>
            <a:r>
              <a:rPr lang="en-US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purposes.</a:t>
            </a:r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9" name="Elbow Connector 8"/>
          <p:cNvCxnSpPr>
            <a:endCxn id="3" idx="1"/>
          </p:cNvCxnSpPr>
          <p:nvPr/>
        </p:nvCxnSpPr>
        <p:spPr>
          <a:xfrm rot="5400000" flipH="1" flipV="1">
            <a:off x="-560326" y="4303652"/>
            <a:ext cx="2752725" cy="698622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3841872" y="5372100"/>
            <a:ext cx="1471365" cy="30777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1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Tap Create Shop</a:t>
            </a:r>
            <a:endParaRPr lang="en-IN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2" name="Straight Arrow Connector 11"/>
          <p:cNvCxnSpPr>
            <a:stCxn id="10" idx="1"/>
          </p:cNvCxnSpPr>
          <p:nvPr/>
        </p:nvCxnSpPr>
        <p:spPr>
          <a:xfrm flipH="1" flipV="1">
            <a:off x="3505200" y="5524500"/>
            <a:ext cx="336672" cy="148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4" name="Straight Arrow Connector 13"/>
          <p:cNvCxnSpPr/>
          <p:nvPr/>
        </p:nvCxnSpPr>
        <p:spPr>
          <a:xfrm>
            <a:off x="3627193" y="5143500"/>
            <a:ext cx="3181717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3841872" y="1897499"/>
            <a:ext cx="2724150" cy="116955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just"/>
            <a:r>
              <a:rPr lang="en-US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2. If your shop is added, your retail details should be verified by admin based on the shop image, location, phone number and registration details.</a:t>
            </a:r>
          </a:p>
        </p:txBody>
      </p:sp>
      <p:cxnSp>
        <p:nvCxnSpPr>
          <p:cNvPr id="19" name="Straight Arrow Connector 18"/>
          <p:cNvCxnSpPr>
            <a:stCxn id="15" idx="3"/>
          </p:cNvCxnSpPr>
          <p:nvPr/>
        </p:nvCxnSpPr>
        <p:spPr>
          <a:xfrm>
            <a:off x="6566022" y="2482275"/>
            <a:ext cx="330444" cy="601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9363808" y="6137047"/>
            <a:ext cx="2705100" cy="52322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3. Once Admin verified your shop, you can add the products</a:t>
            </a:r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22" name="Straight Arrow Connector 21"/>
          <p:cNvCxnSpPr>
            <a:stCxn id="4" idx="3"/>
            <a:endCxn id="2" idx="1"/>
          </p:cNvCxnSpPr>
          <p:nvPr/>
        </p:nvCxnSpPr>
        <p:spPr>
          <a:xfrm>
            <a:off x="9270756" y="3276600"/>
            <a:ext cx="214679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4" name="Straight Arrow Connector 23"/>
          <p:cNvCxnSpPr>
            <a:stCxn id="20" idx="0"/>
          </p:cNvCxnSpPr>
          <p:nvPr/>
        </p:nvCxnSpPr>
        <p:spPr>
          <a:xfrm flipV="1">
            <a:off x="10716358" y="3067050"/>
            <a:ext cx="0" cy="306999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5524866" y="6137047"/>
            <a:ext cx="2743200" cy="52322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Note: </a:t>
            </a:r>
            <a:r>
              <a:rPr lang="en-US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 verification has done within 24 hours by admin.</a:t>
            </a:r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11903978" y="167780"/>
            <a:ext cx="312906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21</a:t>
            </a:r>
            <a:endParaRPr lang="en-IN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3911" y="1628763"/>
            <a:ext cx="490627" cy="171474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05575" y="2114541"/>
            <a:ext cx="400125" cy="123842"/>
          </a:xfrm>
          <a:prstGeom prst="rect">
            <a:avLst/>
          </a:prstGeom>
        </p:spPr>
      </p:pic>
      <p:pic>
        <p:nvPicPr>
          <p:cNvPr id="21" name="Picture 20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53158" y="2114541"/>
            <a:ext cx="400125" cy="1238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14483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53533" y="695325"/>
            <a:ext cx="2382716" cy="5162550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35590" y="695325"/>
            <a:ext cx="2382716" cy="5162550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17647" y="695325"/>
            <a:ext cx="2382716" cy="516255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1476" y="695325"/>
            <a:ext cx="2382716" cy="516255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33425" y="6124575"/>
            <a:ext cx="1676228" cy="30777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1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1. Tap Add Product</a:t>
            </a:r>
            <a:endParaRPr lang="en-IN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8" name="Straight Arrow Connector 7"/>
          <p:cNvCxnSpPr/>
          <p:nvPr/>
        </p:nvCxnSpPr>
        <p:spPr>
          <a:xfrm flipV="1">
            <a:off x="2162175" y="5600700"/>
            <a:ext cx="0" cy="52387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2792657" y="6063020"/>
            <a:ext cx="3504467" cy="73866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2. Enter Product Information</a:t>
            </a:r>
            <a:br>
              <a:rPr lang="en-US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(Add Image, Product Name, Brand, Category, Description, Price, Unit and Quantity)</a:t>
            </a:r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1" name="Straight Arrow Connector 10"/>
          <p:cNvCxnSpPr>
            <a:stCxn id="9" idx="0"/>
            <a:endCxn id="2" idx="2"/>
          </p:cNvCxnSpPr>
          <p:nvPr/>
        </p:nvCxnSpPr>
        <p:spPr>
          <a:xfrm flipV="1">
            <a:off x="4544891" y="5857875"/>
            <a:ext cx="0" cy="20514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4" name="Straight Arrow Connector 13"/>
          <p:cNvCxnSpPr>
            <a:stCxn id="2" idx="3"/>
            <a:endCxn id="3" idx="1"/>
          </p:cNvCxnSpPr>
          <p:nvPr/>
        </p:nvCxnSpPr>
        <p:spPr>
          <a:xfrm>
            <a:off x="5736249" y="3276600"/>
            <a:ext cx="599341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6" name="Straight Arrow Connector 15"/>
          <p:cNvCxnSpPr>
            <a:stCxn id="3" idx="3"/>
            <a:endCxn id="4" idx="1"/>
          </p:cNvCxnSpPr>
          <p:nvPr/>
        </p:nvCxnSpPr>
        <p:spPr>
          <a:xfrm>
            <a:off x="8718306" y="3276600"/>
            <a:ext cx="599341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6590153" y="6063020"/>
            <a:ext cx="1873590" cy="30777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1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3. Tap Create Product</a:t>
            </a:r>
            <a:endParaRPr lang="en-IN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9" name="Straight Arrow Connector 18"/>
          <p:cNvCxnSpPr>
            <a:stCxn id="17" idx="0"/>
          </p:cNvCxnSpPr>
          <p:nvPr/>
        </p:nvCxnSpPr>
        <p:spPr>
          <a:xfrm flipV="1">
            <a:off x="7526948" y="5600700"/>
            <a:ext cx="0" cy="46232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9022005" y="6001465"/>
            <a:ext cx="2973999" cy="73866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4. Now you can visit your products.</a:t>
            </a:r>
            <a:br>
              <a:rPr lang="en-US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5. </a:t>
            </a:r>
            <a:r>
              <a:rPr lang="en-US" sz="1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Toggle on/off products</a:t>
            </a:r>
            <a:r>
              <a:rPr lang="en-US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based on the </a:t>
            </a:r>
            <a:r>
              <a:rPr lang="en-US" sz="1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availability.</a:t>
            </a:r>
            <a:endParaRPr lang="en-IN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22" name="Straight Arrow Connector 21"/>
          <p:cNvCxnSpPr>
            <a:stCxn id="20" idx="0"/>
          </p:cNvCxnSpPr>
          <p:nvPr/>
        </p:nvCxnSpPr>
        <p:spPr>
          <a:xfrm flipH="1" flipV="1">
            <a:off x="10509004" y="2781300"/>
            <a:ext cx="1" cy="322016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11903978" y="167780"/>
            <a:ext cx="312906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22</a:t>
            </a:r>
            <a:endParaRPr lang="en-IN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9020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43269" y="685800"/>
            <a:ext cx="2329962" cy="5048250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6726" y="685800"/>
            <a:ext cx="2329962" cy="5048250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84307" y="685800"/>
            <a:ext cx="2329962" cy="504825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01888" y="685800"/>
            <a:ext cx="2329962" cy="5048250"/>
          </a:xfrm>
          <a:prstGeom prst="rect">
            <a:avLst/>
          </a:prstGeom>
        </p:spPr>
      </p:pic>
      <p:cxnSp>
        <p:nvCxnSpPr>
          <p:cNvPr id="11" name="Elbow Connector 10"/>
          <p:cNvCxnSpPr/>
          <p:nvPr/>
        </p:nvCxnSpPr>
        <p:spPr>
          <a:xfrm flipV="1">
            <a:off x="2724150" y="4048125"/>
            <a:ext cx="660157" cy="523875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7" name="Elbow Connector 16"/>
          <p:cNvCxnSpPr/>
          <p:nvPr/>
        </p:nvCxnSpPr>
        <p:spPr>
          <a:xfrm>
            <a:off x="5591175" y="3848100"/>
            <a:ext cx="710713" cy="504825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9" name="Straight Arrow Connector 18"/>
          <p:cNvCxnSpPr/>
          <p:nvPr/>
        </p:nvCxnSpPr>
        <p:spPr>
          <a:xfrm>
            <a:off x="8524875" y="5457825"/>
            <a:ext cx="618394" cy="952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0" name="Left Brace 19"/>
          <p:cNvSpPr/>
          <p:nvPr/>
        </p:nvSpPr>
        <p:spPr>
          <a:xfrm>
            <a:off x="2171700" y="4781550"/>
            <a:ext cx="190500" cy="504825"/>
          </a:xfrm>
          <a:prstGeom prst="leftBrac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1" name="TextBox 20"/>
          <p:cNvSpPr txBox="1"/>
          <p:nvPr/>
        </p:nvSpPr>
        <p:spPr>
          <a:xfrm>
            <a:off x="466726" y="5886450"/>
            <a:ext cx="1952201" cy="30777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1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To </a:t>
            </a:r>
            <a:r>
              <a:rPr lang="en-US" sz="14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centre</a:t>
            </a:r>
            <a:r>
              <a:rPr lang="en-US" sz="1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your location</a:t>
            </a:r>
            <a:endParaRPr lang="en-IN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23" name="Elbow Connector 22"/>
          <p:cNvCxnSpPr>
            <a:stCxn id="21" idx="0"/>
          </p:cNvCxnSpPr>
          <p:nvPr/>
        </p:nvCxnSpPr>
        <p:spPr>
          <a:xfrm rot="5400000" flipH="1" flipV="1">
            <a:off x="1735826" y="5174351"/>
            <a:ext cx="419100" cy="1005098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590551" y="4763155"/>
            <a:ext cx="1457325" cy="523220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To zoom in and zoom out</a:t>
            </a:r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2047876" y="6267450"/>
            <a:ext cx="1828799" cy="52322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Tap this icon to see the nearby stores.</a:t>
            </a:r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27" name="Elbow Connector 26"/>
          <p:cNvCxnSpPr>
            <a:stCxn id="25" idx="0"/>
          </p:cNvCxnSpPr>
          <p:nvPr/>
        </p:nvCxnSpPr>
        <p:spPr>
          <a:xfrm rot="16200000" flipV="1">
            <a:off x="2039975" y="5345149"/>
            <a:ext cx="1622227" cy="222376"/>
          </a:xfrm>
          <a:prstGeom prst="bentConnector3">
            <a:avLst>
              <a:gd name="adj1" fmla="val 100495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4032006" y="6267450"/>
            <a:ext cx="1914525" cy="52322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You can adjust the distance range.</a:t>
            </a:r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33" name="Straight Arrow Connector 32"/>
          <p:cNvCxnSpPr>
            <a:stCxn id="31" idx="0"/>
          </p:cNvCxnSpPr>
          <p:nvPr/>
        </p:nvCxnSpPr>
        <p:spPr>
          <a:xfrm flipH="1" flipV="1">
            <a:off x="4989268" y="3352800"/>
            <a:ext cx="1" cy="291465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6391275" y="6267450"/>
            <a:ext cx="2133600" cy="52322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You can see the shop address and location </a:t>
            </a:r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36" name="Straight Arrow Connector 35"/>
          <p:cNvCxnSpPr>
            <a:stCxn id="34" idx="0"/>
            <a:endCxn id="5" idx="2"/>
          </p:cNvCxnSpPr>
          <p:nvPr/>
        </p:nvCxnSpPr>
        <p:spPr>
          <a:xfrm flipV="1">
            <a:off x="7458075" y="5734050"/>
            <a:ext cx="8794" cy="53340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>
          <a:xfrm>
            <a:off x="9246581" y="6052006"/>
            <a:ext cx="2226650" cy="73866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Tap directions and it will redirect to google maps to fetch the directions.</a:t>
            </a:r>
            <a:endParaRPr lang="en-IN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41" name="Elbow Connector 40"/>
          <p:cNvCxnSpPr>
            <a:stCxn id="37" idx="1"/>
          </p:cNvCxnSpPr>
          <p:nvPr/>
        </p:nvCxnSpPr>
        <p:spPr>
          <a:xfrm rot="10800000">
            <a:off x="8267701" y="5585668"/>
            <a:ext cx="978881" cy="835670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5" name="Straight Arrow Connector 44"/>
          <p:cNvCxnSpPr>
            <a:stCxn id="37" idx="0"/>
          </p:cNvCxnSpPr>
          <p:nvPr/>
        </p:nvCxnSpPr>
        <p:spPr>
          <a:xfrm flipV="1">
            <a:off x="10359906" y="5676900"/>
            <a:ext cx="0" cy="37510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6" name="TextBox 45"/>
          <p:cNvSpPr txBox="1"/>
          <p:nvPr/>
        </p:nvSpPr>
        <p:spPr>
          <a:xfrm>
            <a:off x="5049458" y="152400"/>
            <a:ext cx="17941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MAP MODULE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11903978" y="167780"/>
            <a:ext cx="312906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23</a:t>
            </a:r>
            <a:endParaRPr lang="en-IN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018415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71010" y="609600"/>
            <a:ext cx="2453054" cy="5314950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6685" y="609600"/>
            <a:ext cx="2453054" cy="5314950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61110" y="609600"/>
            <a:ext cx="2453054" cy="531495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3012" y="6027003"/>
            <a:ext cx="3200400" cy="83099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 </a:t>
            </a:r>
            <a:r>
              <a:rPr lang="en-US" sz="1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Marketplace</a:t>
            </a:r>
            <a:r>
              <a:rPr lang="en-US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module, you can see the </a:t>
            </a:r>
            <a:r>
              <a:rPr lang="en-US" sz="1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farm and retail products</a:t>
            </a:r>
            <a:r>
              <a:rPr lang="en-US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within your </a:t>
            </a:r>
            <a:r>
              <a:rPr lang="en-US" sz="1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range</a:t>
            </a:r>
            <a:r>
              <a:rPr lang="en-US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3263412" y="1238250"/>
            <a:ext cx="1647824" cy="52322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Tap this icon to adjust your range.</a:t>
            </a:r>
            <a:endParaRPr lang="en-IN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8" name="Straight Arrow Connector 7"/>
          <p:cNvCxnSpPr>
            <a:stCxn id="6" idx="1"/>
          </p:cNvCxnSpPr>
          <p:nvPr/>
        </p:nvCxnSpPr>
        <p:spPr>
          <a:xfrm flipH="1">
            <a:off x="2733675" y="1499860"/>
            <a:ext cx="529737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3168161" y="3388861"/>
            <a:ext cx="1743075" cy="73866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Tap a product card to see the product details.</a:t>
            </a:r>
            <a:endParaRPr lang="en-IN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2" name="Straight Arrow Connector 11"/>
          <p:cNvCxnSpPr>
            <a:endCxn id="10" idx="1"/>
          </p:cNvCxnSpPr>
          <p:nvPr/>
        </p:nvCxnSpPr>
        <p:spPr>
          <a:xfrm>
            <a:off x="2733675" y="3758193"/>
            <a:ext cx="434486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4" name="Straight Arrow Connector 13"/>
          <p:cNvCxnSpPr>
            <a:stCxn id="10" idx="3"/>
          </p:cNvCxnSpPr>
          <p:nvPr/>
        </p:nvCxnSpPr>
        <p:spPr>
          <a:xfrm>
            <a:off x="4911236" y="3758193"/>
            <a:ext cx="449874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3317480" y="2496310"/>
            <a:ext cx="1593756" cy="52322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Tap this icon to call the seller</a:t>
            </a:r>
            <a:endParaRPr lang="en-IN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21" name="Straight Arrow Connector 20"/>
          <p:cNvCxnSpPr/>
          <p:nvPr/>
        </p:nvCxnSpPr>
        <p:spPr>
          <a:xfrm flipH="1">
            <a:off x="2733675" y="2638425"/>
            <a:ext cx="583805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10385030" y="6046053"/>
            <a:ext cx="1593756" cy="52322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Tap this icon to call the seller</a:t>
            </a:r>
            <a:endParaRPr lang="en-IN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24" name="Elbow Connector 23"/>
          <p:cNvCxnSpPr>
            <a:stCxn id="22" idx="0"/>
          </p:cNvCxnSpPr>
          <p:nvPr/>
        </p:nvCxnSpPr>
        <p:spPr>
          <a:xfrm rot="16200000" flipV="1">
            <a:off x="9572547" y="4436692"/>
            <a:ext cx="2657192" cy="561530"/>
          </a:xfrm>
          <a:prstGeom prst="bentConnector3">
            <a:avLst>
              <a:gd name="adj1" fmla="val 100185"/>
            </a:avLst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7814164" y="6046053"/>
            <a:ext cx="2370260" cy="52322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Tap Open in Maps to locate the seller’s location</a:t>
            </a:r>
            <a:endParaRPr lang="en-IN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30" name="Straight Arrow Connector 29"/>
          <p:cNvCxnSpPr/>
          <p:nvPr/>
        </p:nvCxnSpPr>
        <p:spPr>
          <a:xfrm flipV="1">
            <a:off x="9597537" y="5629275"/>
            <a:ext cx="0" cy="41677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5136173" y="118765"/>
            <a:ext cx="20056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MARKETPLACE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11903978" y="167780"/>
            <a:ext cx="312906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24</a:t>
            </a:r>
            <a:endParaRPr lang="en-IN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20200" y="3426126"/>
            <a:ext cx="394006" cy="1714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26264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1450" y="857249"/>
            <a:ext cx="2237642" cy="4848225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05075" y="857249"/>
            <a:ext cx="2237642" cy="4848225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58050" y="857247"/>
            <a:ext cx="2237642" cy="484822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05975" y="857248"/>
            <a:ext cx="2237642" cy="4848225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71450" y="5838825"/>
            <a:ext cx="3124200" cy="52322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Tap here to give feedback or ask help and support from admin</a:t>
            </a:r>
            <a:endParaRPr lang="en-IN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0" name="Straight Arrow Connector 9"/>
          <p:cNvCxnSpPr>
            <a:stCxn id="8" idx="0"/>
          </p:cNvCxnSpPr>
          <p:nvPr/>
        </p:nvCxnSpPr>
        <p:spPr>
          <a:xfrm flipV="1">
            <a:off x="1733550" y="2447925"/>
            <a:ext cx="0" cy="339090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5057775" y="2743200"/>
            <a:ext cx="1743809" cy="52322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Enter your message and queries here</a:t>
            </a:r>
            <a:endParaRPr lang="en-IN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3" name="Straight Arrow Connector 12"/>
          <p:cNvCxnSpPr>
            <a:stCxn id="11" idx="1"/>
          </p:cNvCxnSpPr>
          <p:nvPr/>
        </p:nvCxnSpPr>
        <p:spPr>
          <a:xfrm flipH="1">
            <a:off x="4581525" y="3004810"/>
            <a:ext cx="476250" cy="1461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4953000" y="3881765"/>
            <a:ext cx="1989992" cy="52322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Toggle here, if it is issue or not</a:t>
            </a:r>
            <a:endParaRPr lang="en-IN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6" name="Straight Arrow Connector 15"/>
          <p:cNvCxnSpPr>
            <a:stCxn id="14" idx="1"/>
          </p:cNvCxnSpPr>
          <p:nvPr/>
        </p:nvCxnSpPr>
        <p:spPr>
          <a:xfrm flipH="1">
            <a:off x="4486275" y="4143375"/>
            <a:ext cx="466725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5019173" y="4543425"/>
            <a:ext cx="1782411" cy="30777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1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Tap submit feedback</a:t>
            </a:r>
            <a:endParaRPr lang="en-IN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20" name="Straight Arrow Connector 19"/>
          <p:cNvCxnSpPr>
            <a:stCxn id="18" idx="1"/>
          </p:cNvCxnSpPr>
          <p:nvPr/>
        </p:nvCxnSpPr>
        <p:spPr>
          <a:xfrm flipH="1" flipV="1">
            <a:off x="4581525" y="4686300"/>
            <a:ext cx="437648" cy="1101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2" name="Straight Arrow Connector 21"/>
          <p:cNvCxnSpPr/>
          <p:nvPr/>
        </p:nvCxnSpPr>
        <p:spPr>
          <a:xfrm flipV="1">
            <a:off x="4742717" y="5286375"/>
            <a:ext cx="2515333" cy="2857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7724775" y="5838825"/>
            <a:ext cx="3962400" cy="73866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 Feedback history, you can view your past queries, feedbacks and responses from admin.</a:t>
            </a:r>
            <a:br>
              <a:rPr lang="en-US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NOTE: </a:t>
            </a:r>
            <a:r>
              <a:rPr lang="en-US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Admin will respond within 24 hours.</a:t>
            </a:r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4819650" y="237408"/>
            <a:ext cx="24721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HELP AND SUPPORT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11903978" y="167780"/>
            <a:ext cx="312906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25</a:t>
            </a:r>
            <a:endParaRPr lang="en-IN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414265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393346" y="310393"/>
            <a:ext cx="55493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HARDWARE AND SOFTWARE REQUIREMENTS 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3740441" y="1010104"/>
            <a:ext cx="4848837" cy="57708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17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Mobile Device (Farmer/User):</a:t>
            </a:r>
          </a:p>
          <a:p>
            <a:endParaRPr lang="en-IN" sz="16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1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Minimum Requirements:</a:t>
            </a:r>
            <a:endParaRPr lang="en-IN" sz="16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Android Operating System version 8.0 or higher.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2GB RAM (Random Access Memory).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200MB free storage space.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Mobile camera for disease detection.</a:t>
            </a:r>
          </a:p>
          <a:p>
            <a:endParaRPr lang="en-IN" sz="16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1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Recommended Requirements:</a:t>
            </a:r>
            <a:endParaRPr lang="en-IN" sz="16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Android version 10 or higher.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8</a:t>
            </a:r>
            <a:r>
              <a:rPr lang="en-IN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GB RAM.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1GB free storage space.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High-resolution camera for better image quality.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4G/5G mobile connectivity for synchronization.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Offline mode requires no internet (core functionality works without connection).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3586642" y="810869"/>
            <a:ext cx="5162726" cy="573119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TextBox 8"/>
          <p:cNvSpPr txBox="1"/>
          <p:nvPr/>
        </p:nvSpPr>
        <p:spPr>
          <a:xfrm>
            <a:off x="11903978" y="167780"/>
            <a:ext cx="312906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26</a:t>
            </a:r>
            <a:endParaRPr lang="en-IN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233528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393346" y="310393"/>
            <a:ext cx="55493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EXISTING DATASET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11" name="Table 10"/>
          <p:cNvGraphicFramePr>
            <a:graphicFrameLocks noGrp="1"/>
          </p:cNvGraphicFramePr>
          <p:nvPr>
            <p:extLst/>
          </p:nvPr>
        </p:nvGraphicFramePr>
        <p:xfrm>
          <a:off x="428482" y="1214539"/>
          <a:ext cx="2843225" cy="4255360"/>
        </p:xfrm>
        <a:graphic>
          <a:graphicData uri="http://schemas.openxmlformats.org/drawingml/2006/table">
            <a:tbl>
              <a:tblPr/>
              <a:tblGrid>
                <a:gridCol w="1702322">
                  <a:extLst>
                    <a:ext uri="{9D8B030D-6E8A-4147-A177-3AD203B41FA5}">
                      <a16:colId xmlns:a16="http://schemas.microsoft.com/office/drawing/2014/main" val="2317747719"/>
                    </a:ext>
                  </a:extLst>
                </a:gridCol>
                <a:gridCol w="1140903">
                  <a:extLst>
                    <a:ext uri="{9D8B030D-6E8A-4147-A177-3AD203B41FA5}">
                      <a16:colId xmlns:a16="http://schemas.microsoft.com/office/drawing/2014/main" val="1378605070"/>
                    </a:ext>
                  </a:extLst>
                </a:gridCol>
              </a:tblGrid>
              <a:tr h="346544">
                <a:tc>
                  <a:txBody>
                    <a:bodyPr/>
                    <a:lstStyle/>
                    <a:p>
                      <a:pPr algn="ctr"/>
                      <a:r>
                        <a:rPr lang="en-IN" sz="14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Disease</a:t>
                      </a:r>
                      <a:endParaRPr lang="en-IN" sz="14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4752" marR="64752" marT="64752" marB="64752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4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Image Count</a:t>
                      </a:r>
                      <a:endParaRPr lang="en-IN" sz="14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4752" marR="64752" marT="64752" marB="64752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75586598"/>
                  </a:ext>
                </a:extLst>
              </a:tr>
              <a:tr h="296771">
                <a:tc>
                  <a:txBody>
                    <a:bodyPr/>
                    <a:lstStyle/>
                    <a:p>
                      <a:pPr algn="l"/>
                      <a:r>
                        <a:rPr lang="en-IN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Bacterial leaf blight</a:t>
                      </a:r>
                    </a:p>
                  </a:txBody>
                  <a:tcPr marL="64752" marR="64752" marT="64752" marB="64752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1,386</a:t>
                      </a:r>
                    </a:p>
                  </a:txBody>
                  <a:tcPr marL="64752" marR="64752" marT="64752" marB="64752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36055923"/>
                  </a:ext>
                </a:extLst>
              </a:tr>
              <a:tr h="296771">
                <a:tc>
                  <a:txBody>
                    <a:bodyPr/>
                    <a:lstStyle/>
                    <a:p>
                      <a:pPr algn="l"/>
                      <a:r>
                        <a:rPr lang="en-IN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Brown spot</a:t>
                      </a:r>
                    </a:p>
                  </a:txBody>
                  <a:tcPr marL="64752" marR="64752" marT="64752" marB="64752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1,480</a:t>
                      </a:r>
                    </a:p>
                  </a:txBody>
                  <a:tcPr marL="64752" marR="64752" marT="64752" marB="64752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23947885"/>
                  </a:ext>
                </a:extLst>
              </a:tr>
              <a:tr h="296771">
                <a:tc>
                  <a:txBody>
                    <a:bodyPr/>
                    <a:lstStyle/>
                    <a:p>
                      <a:pPr algn="l"/>
                      <a:r>
                        <a:rPr lang="en-IN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Healthy</a:t>
                      </a:r>
                    </a:p>
                  </a:txBody>
                  <a:tcPr marL="64752" marR="64752" marT="64752" marB="64752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1,491</a:t>
                      </a:r>
                    </a:p>
                  </a:txBody>
                  <a:tcPr marL="64752" marR="64752" marT="64752" marB="64752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48018891"/>
                  </a:ext>
                </a:extLst>
              </a:tr>
              <a:tr h="296771">
                <a:tc>
                  <a:txBody>
                    <a:bodyPr/>
                    <a:lstStyle/>
                    <a:p>
                      <a:pPr algn="l"/>
                      <a:r>
                        <a:rPr lang="en-IN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Leaf blast</a:t>
                      </a:r>
                    </a:p>
                  </a:txBody>
                  <a:tcPr marL="64752" marR="64752" marT="64752" marB="64752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1,801</a:t>
                      </a:r>
                    </a:p>
                  </a:txBody>
                  <a:tcPr marL="64752" marR="64752" marT="64752" marB="64752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60838289"/>
                  </a:ext>
                </a:extLst>
              </a:tr>
              <a:tr h="296771">
                <a:tc>
                  <a:txBody>
                    <a:bodyPr/>
                    <a:lstStyle/>
                    <a:p>
                      <a:pPr algn="l"/>
                      <a:r>
                        <a:rPr lang="en-IN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Leaf scald</a:t>
                      </a:r>
                    </a:p>
                  </a:txBody>
                  <a:tcPr marL="64752" marR="64752" marT="64752" marB="64752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1,670</a:t>
                      </a:r>
                    </a:p>
                  </a:txBody>
                  <a:tcPr marL="64752" marR="64752" marT="64752" marB="64752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86299921"/>
                  </a:ext>
                </a:extLst>
              </a:tr>
              <a:tr h="480176">
                <a:tc>
                  <a:txBody>
                    <a:bodyPr/>
                    <a:lstStyle/>
                    <a:p>
                      <a:pPr algn="l"/>
                      <a:r>
                        <a:rPr lang="en-IN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Narrow brown spot</a:t>
                      </a:r>
                    </a:p>
                  </a:txBody>
                  <a:tcPr marL="64752" marR="64752" marT="64752" marB="64752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1,416</a:t>
                      </a:r>
                    </a:p>
                  </a:txBody>
                  <a:tcPr marL="64752" marR="64752" marT="64752" marB="64752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20513278"/>
                  </a:ext>
                </a:extLst>
              </a:tr>
              <a:tr h="296771">
                <a:tc>
                  <a:txBody>
                    <a:bodyPr/>
                    <a:lstStyle/>
                    <a:p>
                      <a:pPr algn="l"/>
                      <a:r>
                        <a:rPr lang="en-IN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Neck blast</a:t>
                      </a:r>
                    </a:p>
                  </a:txBody>
                  <a:tcPr marL="64752" marR="64752" marT="64752" marB="64752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1,000</a:t>
                      </a:r>
                    </a:p>
                  </a:txBody>
                  <a:tcPr marL="64752" marR="64752" marT="64752" marB="64752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26210205"/>
                  </a:ext>
                </a:extLst>
              </a:tr>
              <a:tr h="296771">
                <a:tc>
                  <a:txBody>
                    <a:bodyPr/>
                    <a:lstStyle/>
                    <a:p>
                      <a:pPr algn="l"/>
                      <a:r>
                        <a:rPr lang="en-IN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Rice hispa</a:t>
                      </a:r>
                    </a:p>
                  </a:txBody>
                  <a:tcPr marL="64752" marR="64752" marT="64752" marB="64752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1,461</a:t>
                      </a:r>
                    </a:p>
                  </a:txBody>
                  <a:tcPr marL="64752" marR="64752" marT="64752" marB="64752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2856205"/>
                  </a:ext>
                </a:extLst>
              </a:tr>
              <a:tr h="296771">
                <a:tc>
                  <a:txBody>
                    <a:bodyPr/>
                    <a:lstStyle/>
                    <a:p>
                      <a:pPr algn="l"/>
                      <a:r>
                        <a:rPr lang="en-IN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Sheath blight</a:t>
                      </a:r>
                    </a:p>
                  </a:txBody>
                  <a:tcPr marL="64752" marR="64752" marT="64752" marB="64752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1,578</a:t>
                      </a:r>
                    </a:p>
                  </a:txBody>
                  <a:tcPr marL="64752" marR="64752" marT="64752" marB="64752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95582794"/>
                  </a:ext>
                </a:extLst>
              </a:tr>
              <a:tr h="296771">
                <a:tc>
                  <a:txBody>
                    <a:bodyPr/>
                    <a:lstStyle/>
                    <a:p>
                      <a:pPr algn="l"/>
                      <a:r>
                        <a:rPr lang="en-IN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Tungro</a:t>
                      </a:r>
                    </a:p>
                  </a:txBody>
                  <a:tcPr marL="64752" marR="64752" marT="64752" marB="64752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1,740</a:t>
                      </a:r>
                    </a:p>
                  </a:txBody>
                  <a:tcPr marL="64752" marR="64752" marT="64752" marB="64752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0765248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IN" sz="1400" b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Total</a:t>
                      </a:r>
                      <a:endParaRPr lang="en-IN" sz="140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4752" marR="64752" marT="64752" marB="64752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14,738</a:t>
                      </a:r>
                      <a:endParaRPr lang="en-IN" sz="14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4752" marR="64752" marT="64752" marB="64752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38917489"/>
                  </a:ext>
                </a:extLst>
              </a:tr>
            </a:tbl>
          </a:graphicData>
        </a:graphic>
      </p:graphicFrame>
      <p:graphicFrame>
        <p:nvGraphicFramePr>
          <p:cNvPr id="12" name="Table 11"/>
          <p:cNvGraphicFramePr>
            <a:graphicFrameLocks noGrp="1"/>
          </p:cNvGraphicFramePr>
          <p:nvPr>
            <p:extLst/>
          </p:nvPr>
        </p:nvGraphicFramePr>
        <p:xfrm>
          <a:off x="3707233" y="1214539"/>
          <a:ext cx="2240561" cy="2560320"/>
        </p:xfrm>
        <a:graphic>
          <a:graphicData uri="http://schemas.openxmlformats.org/drawingml/2006/table">
            <a:tbl>
              <a:tblPr/>
              <a:tblGrid>
                <a:gridCol w="851358">
                  <a:extLst>
                    <a:ext uri="{9D8B030D-6E8A-4147-A177-3AD203B41FA5}">
                      <a16:colId xmlns:a16="http://schemas.microsoft.com/office/drawing/2014/main" val="618929781"/>
                    </a:ext>
                  </a:extLst>
                </a:gridCol>
                <a:gridCol w="1389203">
                  <a:extLst>
                    <a:ext uri="{9D8B030D-6E8A-4147-A177-3AD203B41FA5}">
                      <a16:colId xmlns:a16="http://schemas.microsoft.com/office/drawing/2014/main" val="339605858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IN" sz="14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Disease</a:t>
                      </a:r>
                      <a:endParaRPr lang="en-IN" sz="14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Image Count</a:t>
                      </a:r>
                      <a:endParaRPr lang="en-IN" sz="14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1126412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IN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Healthy</a:t>
                      </a: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522</a:t>
                      </a: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7417695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IN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Mosaic</a:t>
                      </a: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462</a:t>
                      </a: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4630873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IN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RedRot</a:t>
                      </a: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518</a:t>
                      </a: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2438547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IN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Rust</a:t>
                      </a: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514</a:t>
                      </a: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3879312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IN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Yellow</a:t>
                      </a: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505</a:t>
                      </a: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334966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IN" sz="1400" b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Total</a:t>
                      </a:r>
                      <a:endParaRPr lang="en-IN" sz="140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2,521</a:t>
                      </a:r>
                      <a:endParaRPr lang="en-IN" sz="14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49869029"/>
                  </a:ext>
                </a:extLst>
              </a:tr>
            </a:tbl>
          </a:graphicData>
        </a:graphic>
      </p:graphicFrame>
      <p:graphicFrame>
        <p:nvGraphicFramePr>
          <p:cNvPr id="13" name="Table 12"/>
          <p:cNvGraphicFramePr>
            <a:graphicFrameLocks noGrp="1"/>
          </p:cNvGraphicFramePr>
          <p:nvPr>
            <p:extLst/>
          </p:nvPr>
        </p:nvGraphicFramePr>
        <p:xfrm>
          <a:off x="6328128" y="1214539"/>
          <a:ext cx="2559344" cy="2560320"/>
        </p:xfrm>
        <a:graphic>
          <a:graphicData uri="http://schemas.openxmlformats.org/drawingml/2006/table">
            <a:tbl>
              <a:tblPr/>
              <a:tblGrid>
                <a:gridCol w="1465185">
                  <a:extLst>
                    <a:ext uri="{9D8B030D-6E8A-4147-A177-3AD203B41FA5}">
                      <a16:colId xmlns:a16="http://schemas.microsoft.com/office/drawing/2014/main" val="3588141091"/>
                    </a:ext>
                  </a:extLst>
                </a:gridCol>
                <a:gridCol w="1094159">
                  <a:extLst>
                    <a:ext uri="{9D8B030D-6E8A-4147-A177-3AD203B41FA5}">
                      <a16:colId xmlns:a16="http://schemas.microsoft.com/office/drawing/2014/main" val="80292035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IN" sz="1400" b="1" dirty="0">
                          <a:effectLst/>
                        </a:rPr>
                        <a:t>Disease</a:t>
                      </a:r>
                      <a:endParaRPr lang="en-IN" sz="1400" dirty="0">
                        <a:effectLst/>
                      </a:endParaRP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b="1">
                          <a:effectLst/>
                        </a:rPr>
                        <a:t>Image Count</a:t>
                      </a:r>
                      <a:endParaRPr lang="en-IN" sz="1400">
                        <a:effectLst/>
                      </a:endParaRP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7403724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IN" sz="1400">
                          <a:effectLst/>
                        </a:rPr>
                        <a:t>Black Sigatoka</a:t>
                      </a: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>
                          <a:effectLst/>
                        </a:rPr>
                        <a:t>1,479</a:t>
                      </a: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4521133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IN" sz="1400">
                          <a:effectLst/>
                        </a:rPr>
                        <a:t>Yellow Sigatoka</a:t>
                      </a: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>
                          <a:effectLst/>
                        </a:rPr>
                        <a:t>1,528</a:t>
                      </a: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3486719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IN" sz="1400">
                          <a:effectLst/>
                        </a:rPr>
                        <a:t>Cordana</a:t>
                      </a: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>
                          <a:effectLst/>
                        </a:rPr>
                        <a:t>904</a:t>
                      </a: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3139004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IN" sz="1400">
                          <a:effectLst/>
                        </a:rPr>
                        <a:t>Panama disease</a:t>
                      </a: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>
                          <a:effectLst/>
                        </a:rPr>
                        <a:t>1,121</a:t>
                      </a: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5801637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IN" sz="1400">
                          <a:effectLst/>
                        </a:rPr>
                        <a:t>Healthy</a:t>
                      </a: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>
                          <a:effectLst/>
                        </a:rPr>
                        <a:t>1,130</a:t>
                      </a: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756747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IN" sz="1400" b="1">
                          <a:effectLst/>
                        </a:rPr>
                        <a:t>Total</a:t>
                      </a:r>
                      <a:endParaRPr lang="en-IN" sz="1400">
                        <a:effectLst/>
                      </a:endParaRP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b="1" dirty="0">
                          <a:effectLst/>
                        </a:rPr>
                        <a:t>6,162</a:t>
                      </a:r>
                      <a:endParaRPr lang="en-IN" sz="1400" dirty="0">
                        <a:effectLst/>
                      </a:endParaRP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34558515"/>
                  </a:ext>
                </a:extLst>
              </a:tr>
            </a:tbl>
          </a:graphicData>
        </a:graphic>
      </p:graphicFrame>
      <p:sp>
        <p:nvSpPr>
          <p:cNvPr id="14" name="TextBox 13"/>
          <p:cNvSpPr txBox="1"/>
          <p:nvPr/>
        </p:nvSpPr>
        <p:spPr>
          <a:xfrm>
            <a:off x="1502082" y="875985"/>
            <a:ext cx="69602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RICE</a:t>
            </a:r>
            <a:endParaRPr lang="en-IN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4087567" y="879515"/>
            <a:ext cx="147989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SUGARCANE</a:t>
            </a:r>
            <a:endParaRPr lang="en-IN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7078648" y="875985"/>
            <a:ext cx="105830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BANANA</a:t>
            </a:r>
            <a:endParaRPr lang="en-IN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17" name="Table 16"/>
          <p:cNvGraphicFramePr>
            <a:graphicFrameLocks noGrp="1"/>
          </p:cNvGraphicFramePr>
          <p:nvPr>
            <p:extLst/>
          </p:nvPr>
        </p:nvGraphicFramePr>
        <p:xfrm>
          <a:off x="9267805" y="1214539"/>
          <a:ext cx="2542536" cy="3291840"/>
        </p:xfrm>
        <a:graphic>
          <a:graphicData uri="http://schemas.openxmlformats.org/drawingml/2006/table">
            <a:tbl>
              <a:tblPr/>
              <a:tblGrid>
                <a:gridCol w="1213486">
                  <a:extLst>
                    <a:ext uri="{9D8B030D-6E8A-4147-A177-3AD203B41FA5}">
                      <a16:colId xmlns:a16="http://schemas.microsoft.com/office/drawing/2014/main" val="3930579972"/>
                    </a:ext>
                  </a:extLst>
                </a:gridCol>
                <a:gridCol w="1329050">
                  <a:extLst>
                    <a:ext uri="{9D8B030D-6E8A-4147-A177-3AD203B41FA5}">
                      <a16:colId xmlns:a16="http://schemas.microsoft.com/office/drawing/2014/main" val="401127471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IN" sz="14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Disease</a:t>
                      </a:r>
                      <a:endParaRPr lang="en-IN" sz="14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b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Image Count</a:t>
                      </a:r>
                      <a:endParaRPr lang="en-IN" sz="140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3667836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IN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Bacterial spot</a:t>
                      </a: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1,702</a:t>
                      </a: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0627057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IN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Early blight</a:t>
                      </a: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1,920</a:t>
                      </a: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0814697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IN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Late blight</a:t>
                      </a: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1,851</a:t>
                      </a: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3806575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IN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Leaf mold</a:t>
                      </a: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1,882</a:t>
                      </a: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1513615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IN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Target Spot</a:t>
                      </a: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1,827</a:t>
                      </a: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7182703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IN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Black spot</a:t>
                      </a: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1,745</a:t>
                      </a: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2548197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IN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Healthy</a:t>
                      </a: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1,926</a:t>
                      </a: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2738383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IN" sz="1400" b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Total</a:t>
                      </a:r>
                      <a:endParaRPr lang="en-IN" sz="140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13,053</a:t>
                      </a:r>
                      <a:endParaRPr lang="en-IN" sz="14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05500135"/>
                  </a:ext>
                </a:extLst>
              </a:tr>
            </a:tbl>
          </a:graphicData>
        </a:graphic>
      </p:graphicFrame>
      <p:sp>
        <p:nvSpPr>
          <p:cNvPr id="18" name="TextBox 17"/>
          <p:cNvSpPr txBox="1"/>
          <p:nvPr/>
        </p:nvSpPr>
        <p:spPr>
          <a:xfrm>
            <a:off x="10009921" y="875985"/>
            <a:ext cx="109651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TOMATO</a:t>
            </a:r>
            <a:endParaRPr lang="en-IN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19" name="Table 18"/>
          <p:cNvGraphicFramePr>
            <a:graphicFrameLocks noGrp="1"/>
          </p:cNvGraphicFramePr>
          <p:nvPr>
            <p:extLst/>
          </p:nvPr>
        </p:nvGraphicFramePr>
        <p:xfrm>
          <a:off x="3707231" y="4323963"/>
          <a:ext cx="2240563" cy="2194560"/>
        </p:xfrm>
        <a:graphic>
          <a:graphicData uri="http://schemas.openxmlformats.org/drawingml/2006/table">
            <a:tbl>
              <a:tblPr/>
              <a:tblGrid>
                <a:gridCol w="1039226">
                  <a:extLst>
                    <a:ext uri="{9D8B030D-6E8A-4147-A177-3AD203B41FA5}">
                      <a16:colId xmlns:a16="http://schemas.microsoft.com/office/drawing/2014/main" val="3384723466"/>
                    </a:ext>
                  </a:extLst>
                </a:gridCol>
                <a:gridCol w="1201337">
                  <a:extLst>
                    <a:ext uri="{9D8B030D-6E8A-4147-A177-3AD203B41FA5}">
                      <a16:colId xmlns:a16="http://schemas.microsoft.com/office/drawing/2014/main" val="54661382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IN" sz="14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Disease</a:t>
                      </a:r>
                      <a:endParaRPr lang="en-IN" sz="14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Image Count</a:t>
                      </a:r>
                      <a:endParaRPr lang="en-IN" sz="14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2295312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IN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Healthy</a:t>
                      </a: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2,618</a:t>
                      </a: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6099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IN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Brown Rust</a:t>
                      </a: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1,256</a:t>
                      </a: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98279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IN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Septoria</a:t>
                      </a: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1,662</a:t>
                      </a: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485535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IN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Yellow Rust</a:t>
                      </a: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2,689</a:t>
                      </a: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890444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IN" sz="1400" b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Total</a:t>
                      </a:r>
                      <a:endParaRPr lang="en-IN" sz="140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8,225</a:t>
                      </a:r>
                      <a:endParaRPr lang="en-IN" sz="14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70881026"/>
                  </a:ext>
                </a:extLst>
              </a:tr>
            </a:tbl>
          </a:graphicData>
        </a:graphic>
      </p:graphicFrame>
      <p:sp>
        <p:nvSpPr>
          <p:cNvPr id="20" name="TextBox 19"/>
          <p:cNvSpPr txBox="1"/>
          <p:nvPr/>
        </p:nvSpPr>
        <p:spPr>
          <a:xfrm>
            <a:off x="4350073" y="3985409"/>
            <a:ext cx="9548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WHEAT</a:t>
            </a:r>
            <a:endParaRPr lang="en-IN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21" name="Table 20"/>
          <p:cNvGraphicFramePr>
            <a:graphicFrameLocks noGrp="1"/>
          </p:cNvGraphicFramePr>
          <p:nvPr>
            <p:extLst/>
          </p:nvPr>
        </p:nvGraphicFramePr>
        <p:xfrm>
          <a:off x="6328125" y="4323963"/>
          <a:ext cx="2559346" cy="2194560"/>
        </p:xfrm>
        <a:graphic>
          <a:graphicData uri="http://schemas.openxmlformats.org/drawingml/2006/table">
            <a:tbl>
              <a:tblPr/>
              <a:tblGrid>
                <a:gridCol w="1279673">
                  <a:extLst>
                    <a:ext uri="{9D8B030D-6E8A-4147-A177-3AD203B41FA5}">
                      <a16:colId xmlns:a16="http://schemas.microsoft.com/office/drawing/2014/main" val="604676461"/>
                    </a:ext>
                  </a:extLst>
                </a:gridCol>
                <a:gridCol w="1279673">
                  <a:extLst>
                    <a:ext uri="{9D8B030D-6E8A-4147-A177-3AD203B41FA5}">
                      <a16:colId xmlns:a16="http://schemas.microsoft.com/office/drawing/2014/main" val="394796322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IN" sz="1400" b="1">
                          <a:effectLst/>
                        </a:rPr>
                        <a:t>Disease</a:t>
                      </a:r>
                      <a:endParaRPr lang="en-IN" sz="1400">
                        <a:effectLst/>
                      </a:endParaRP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b="1">
                          <a:effectLst/>
                        </a:rPr>
                        <a:t>Image Count</a:t>
                      </a:r>
                      <a:endParaRPr lang="en-IN" sz="1400">
                        <a:effectLst/>
                      </a:endParaRP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601673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IN" sz="1400">
                          <a:effectLst/>
                        </a:rPr>
                        <a:t>Healthy</a:t>
                      </a: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dirty="0">
                          <a:effectLst/>
                        </a:rPr>
                        <a:t>2,373</a:t>
                      </a: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6440598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IN" sz="1400">
                          <a:effectLst/>
                        </a:rPr>
                        <a:t>Phoma</a:t>
                      </a: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dirty="0">
                          <a:effectLst/>
                        </a:rPr>
                        <a:t>2,700</a:t>
                      </a: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954445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IN" sz="1400">
                          <a:effectLst/>
                        </a:rPr>
                        <a:t>Leaf Rust</a:t>
                      </a: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dirty="0">
                          <a:effectLst/>
                        </a:rPr>
                        <a:t>2,700</a:t>
                      </a: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0329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IN" sz="1400">
                          <a:effectLst/>
                        </a:rPr>
                        <a:t>Cerscospora</a:t>
                      </a: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dirty="0">
                          <a:effectLst/>
                        </a:rPr>
                        <a:t>2,700</a:t>
                      </a: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5776158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IN" sz="1400" b="1">
                          <a:effectLst/>
                        </a:rPr>
                        <a:t>Total</a:t>
                      </a:r>
                      <a:endParaRPr lang="en-IN" sz="1400">
                        <a:effectLst/>
                      </a:endParaRP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b="1" dirty="0">
                          <a:effectLst/>
                        </a:rPr>
                        <a:t>10,473</a:t>
                      </a:r>
                      <a:endParaRPr lang="en-IN" sz="1400" dirty="0">
                        <a:effectLst/>
                      </a:endParaRP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2012500"/>
                  </a:ext>
                </a:extLst>
              </a:tr>
            </a:tbl>
          </a:graphicData>
        </a:graphic>
      </p:graphicFrame>
      <p:sp>
        <p:nvSpPr>
          <p:cNvPr id="22" name="TextBox 21"/>
          <p:cNvSpPr txBox="1"/>
          <p:nvPr/>
        </p:nvSpPr>
        <p:spPr>
          <a:xfrm>
            <a:off x="7130361" y="3985409"/>
            <a:ext cx="101502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COFFEE</a:t>
            </a:r>
            <a:endParaRPr lang="en-IN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11903978" y="167780"/>
            <a:ext cx="312906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27</a:t>
            </a:r>
            <a:endParaRPr lang="en-IN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318276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/>
          <p:cNvGraphicFramePr>
            <a:graphicFrameLocks noGrp="1"/>
          </p:cNvGraphicFramePr>
          <p:nvPr>
            <p:extLst/>
          </p:nvPr>
        </p:nvGraphicFramePr>
        <p:xfrm>
          <a:off x="2608275" y="863532"/>
          <a:ext cx="3180130" cy="2560320"/>
        </p:xfrm>
        <a:graphic>
          <a:graphicData uri="http://schemas.openxmlformats.org/drawingml/2006/table">
            <a:tbl>
              <a:tblPr/>
              <a:tblGrid>
                <a:gridCol w="1590065">
                  <a:extLst>
                    <a:ext uri="{9D8B030D-6E8A-4147-A177-3AD203B41FA5}">
                      <a16:colId xmlns:a16="http://schemas.microsoft.com/office/drawing/2014/main" val="2359284307"/>
                    </a:ext>
                  </a:extLst>
                </a:gridCol>
                <a:gridCol w="1590065">
                  <a:extLst>
                    <a:ext uri="{9D8B030D-6E8A-4147-A177-3AD203B41FA5}">
                      <a16:colId xmlns:a16="http://schemas.microsoft.com/office/drawing/2014/main" val="166055574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IN" sz="14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Disease</a:t>
                      </a:r>
                      <a:endParaRPr lang="en-IN" sz="14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b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Image Count</a:t>
                      </a:r>
                      <a:endParaRPr lang="en-IN" sz="140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9198481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IN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Early leaf spot</a:t>
                      </a: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1,384</a:t>
                      </a: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7404238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IN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Late leaf spot</a:t>
                      </a: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1,516</a:t>
                      </a: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4248576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IN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Nutrition deficiency</a:t>
                      </a: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1,332</a:t>
                      </a: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2514931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IN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Rust</a:t>
                      </a: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2,557</a:t>
                      </a: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6190594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IN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Healthy</a:t>
                      </a: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982</a:t>
                      </a: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2298316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IN" sz="1400" b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Total</a:t>
                      </a:r>
                      <a:endParaRPr lang="en-IN" sz="140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7,771</a:t>
                      </a:r>
                      <a:endParaRPr lang="en-IN" sz="14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31907270"/>
                  </a:ext>
                </a:extLst>
              </a:tr>
            </a:tbl>
          </a:graphicData>
        </a:graphic>
      </p:graphicFrame>
      <p:sp>
        <p:nvSpPr>
          <p:cNvPr id="3" name="TextBox 2"/>
          <p:cNvSpPr txBox="1"/>
          <p:nvPr/>
        </p:nvSpPr>
        <p:spPr>
          <a:xfrm>
            <a:off x="3435150" y="423777"/>
            <a:ext cx="152638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GROUNDNUT</a:t>
            </a:r>
            <a:endParaRPr lang="en-IN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/>
          </p:nvPr>
        </p:nvGraphicFramePr>
        <p:xfrm>
          <a:off x="6291043" y="863532"/>
          <a:ext cx="3163350" cy="2560320"/>
        </p:xfrm>
        <a:graphic>
          <a:graphicData uri="http://schemas.openxmlformats.org/drawingml/2006/table">
            <a:tbl>
              <a:tblPr/>
              <a:tblGrid>
                <a:gridCol w="1581675">
                  <a:extLst>
                    <a:ext uri="{9D8B030D-6E8A-4147-A177-3AD203B41FA5}">
                      <a16:colId xmlns:a16="http://schemas.microsoft.com/office/drawing/2014/main" val="483781321"/>
                    </a:ext>
                  </a:extLst>
                </a:gridCol>
                <a:gridCol w="1581675">
                  <a:extLst>
                    <a:ext uri="{9D8B030D-6E8A-4147-A177-3AD203B41FA5}">
                      <a16:colId xmlns:a16="http://schemas.microsoft.com/office/drawing/2014/main" val="43988625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IN" sz="14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Disease</a:t>
                      </a:r>
                      <a:endParaRPr lang="en-IN" sz="14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b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Image Count</a:t>
                      </a:r>
                      <a:endParaRPr lang="en-IN" sz="140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7029195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IN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Bud Root Dropping</a:t>
                      </a: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514</a:t>
                      </a: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2612432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IN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Bud Rot</a:t>
                      </a: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470</a:t>
                      </a: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935077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IN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Gray Leaf spot</a:t>
                      </a: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2,135</a:t>
                      </a: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4392642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IN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Leaf Rot</a:t>
                      </a: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1,673</a:t>
                      </a: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8199713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IN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Stem Bleeding</a:t>
                      </a: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1,006</a:t>
                      </a: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3845745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IN" sz="1400" b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Total</a:t>
                      </a:r>
                      <a:endParaRPr lang="en-IN" sz="140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6,798</a:t>
                      </a:r>
                      <a:endParaRPr lang="en-IN" sz="14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93139732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7257004" y="423777"/>
            <a:ext cx="123142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COCONUT</a:t>
            </a:r>
            <a:endParaRPr lang="en-IN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/>
          </p:nvPr>
        </p:nvGraphicFramePr>
        <p:xfrm>
          <a:off x="2608275" y="4138873"/>
          <a:ext cx="3180130" cy="2194560"/>
        </p:xfrm>
        <a:graphic>
          <a:graphicData uri="http://schemas.openxmlformats.org/drawingml/2006/table">
            <a:tbl>
              <a:tblPr/>
              <a:tblGrid>
                <a:gridCol w="1590065">
                  <a:extLst>
                    <a:ext uri="{9D8B030D-6E8A-4147-A177-3AD203B41FA5}">
                      <a16:colId xmlns:a16="http://schemas.microsoft.com/office/drawing/2014/main" val="2107250789"/>
                    </a:ext>
                  </a:extLst>
                </a:gridCol>
                <a:gridCol w="1590065">
                  <a:extLst>
                    <a:ext uri="{9D8B030D-6E8A-4147-A177-3AD203B41FA5}">
                      <a16:colId xmlns:a16="http://schemas.microsoft.com/office/drawing/2014/main" val="426164649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IN" sz="14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Disease</a:t>
                      </a:r>
                      <a:endParaRPr lang="en-IN" sz="14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b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Image Count</a:t>
                      </a:r>
                      <a:endParaRPr lang="en-IN" sz="140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0816418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IN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Bacterial blight</a:t>
                      </a: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448</a:t>
                      </a: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43255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IN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Curl virus</a:t>
                      </a: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418</a:t>
                      </a: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2849536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IN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Fussarium wilt</a:t>
                      </a: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419</a:t>
                      </a: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0756804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IN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Healthy</a:t>
                      </a: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426</a:t>
                      </a: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2492765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IN" sz="1400" b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Total</a:t>
                      </a:r>
                      <a:endParaRPr lang="en-IN" sz="140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1,711</a:t>
                      </a:r>
                      <a:endParaRPr lang="en-IN" sz="14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0686177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3663834" y="3730438"/>
            <a:ext cx="106901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COTTON</a:t>
            </a:r>
            <a:endParaRPr lang="en-IN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8" name="Table 7"/>
          <p:cNvGraphicFramePr>
            <a:graphicFrameLocks noGrp="1"/>
          </p:cNvGraphicFramePr>
          <p:nvPr>
            <p:extLst/>
          </p:nvPr>
        </p:nvGraphicFramePr>
        <p:xfrm>
          <a:off x="6291043" y="4138873"/>
          <a:ext cx="3163350" cy="2194560"/>
        </p:xfrm>
        <a:graphic>
          <a:graphicData uri="http://schemas.openxmlformats.org/drawingml/2006/table">
            <a:tbl>
              <a:tblPr/>
              <a:tblGrid>
                <a:gridCol w="1581675">
                  <a:extLst>
                    <a:ext uri="{9D8B030D-6E8A-4147-A177-3AD203B41FA5}">
                      <a16:colId xmlns:a16="http://schemas.microsoft.com/office/drawing/2014/main" val="246105744"/>
                    </a:ext>
                  </a:extLst>
                </a:gridCol>
                <a:gridCol w="1581675">
                  <a:extLst>
                    <a:ext uri="{9D8B030D-6E8A-4147-A177-3AD203B41FA5}">
                      <a16:colId xmlns:a16="http://schemas.microsoft.com/office/drawing/2014/main" val="164196300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IN" sz="1400" b="1" dirty="0">
                          <a:effectLst/>
                        </a:rPr>
                        <a:t>Disease</a:t>
                      </a:r>
                      <a:endParaRPr lang="en-IN" sz="1400" dirty="0">
                        <a:effectLst/>
                      </a:endParaRP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b="1">
                          <a:effectLst/>
                        </a:rPr>
                        <a:t>Image Count</a:t>
                      </a:r>
                      <a:endParaRPr lang="en-IN" sz="1400">
                        <a:effectLst/>
                      </a:endParaRP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4307813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IN" sz="1400">
                          <a:effectLst/>
                        </a:rPr>
                        <a:t>Common Rust</a:t>
                      </a: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>
                          <a:effectLst/>
                        </a:rPr>
                        <a:t>1,306</a:t>
                      </a: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4944279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IN" sz="1400">
                          <a:effectLst/>
                        </a:rPr>
                        <a:t>Gray Leaf Spot</a:t>
                      </a: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>
                          <a:effectLst/>
                        </a:rPr>
                        <a:t>574</a:t>
                      </a: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5916132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IN" sz="1400">
                          <a:effectLst/>
                        </a:rPr>
                        <a:t>Blight</a:t>
                      </a: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>
                          <a:effectLst/>
                        </a:rPr>
                        <a:t>1,146</a:t>
                      </a: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5021507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IN" sz="1400">
                          <a:effectLst/>
                        </a:rPr>
                        <a:t>Healthy</a:t>
                      </a: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>
                          <a:effectLst/>
                        </a:rPr>
                        <a:t>1,162</a:t>
                      </a: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0746205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IN" sz="1400" b="1">
                          <a:effectLst/>
                        </a:rPr>
                        <a:t>Total</a:t>
                      </a:r>
                      <a:endParaRPr lang="en-IN" sz="1400">
                        <a:effectLst/>
                      </a:endParaRP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b="1" dirty="0">
                          <a:effectLst/>
                        </a:rPr>
                        <a:t>4,188</a:t>
                      </a:r>
                      <a:endParaRPr lang="en-IN" sz="1400" dirty="0">
                        <a:effectLst/>
                      </a:endParaRP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63456329"/>
                  </a:ext>
                </a:extLst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7479019" y="3730438"/>
            <a:ext cx="78739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CORN</a:t>
            </a:r>
            <a:endParaRPr lang="en-IN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1903978" y="167780"/>
            <a:ext cx="312906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28</a:t>
            </a:r>
            <a:endParaRPr lang="en-IN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613939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3393346" y="310393"/>
            <a:ext cx="55493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DATASET REQUIREMENTS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813759" y="1391606"/>
            <a:ext cx="6096000" cy="4110741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50000"/>
              </a:lnSpc>
            </a:pPr>
            <a:r>
              <a:rPr lang="en-US" sz="1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Problem: 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Lab-to-Field </a:t>
            </a:r>
            <a:r>
              <a:rPr lang="en-US" sz="1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Gap</a:t>
            </a:r>
          </a:p>
          <a:p>
            <a:pPr>
              <a:lnSpc>
                <a:spcPct val="150000"/>
              </a:lnSpc>
            </a:pPr>
            <a:endParaRPr lang="en-US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We had leaf-only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images </a:t>
            </a:r>
            <a:r>
              <a:rPr lang="en-US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which is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insufficient for farmer-facing deployment because:</a:t>
            </a:r>
          </a:p>
          <a:p>
            <a:pPr>
              <a:lnSpc>
                <a:spcPct val="150000"/>
              </a:lnSpc>
            </a:pPr>
            <a:r>
              <a:rPr lang="en-US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• Farmers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capture photos at varying distances and angles</a:t>
            </a:r>
          </a:p>
          <a:p>
            <a:pPr>
              <a:lnSpc>
                <a:spcPct val="150000"/>
              </a:lnSpc>
            </a:pPr>
            <a:r>
              <a:rPr lang="en-US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• Real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field images include cluttered backgrounds (soil, sky, neighboring plants, tools)</a:t>
            </a:r>
          </a:p>
          <a:p>
            <a:pPr>
              <a:lnSpc>
                <a:spcPct val="150000"/>
              </a:lnSpc>
            </a:pPr>
            <a:r>
              <a:rPr lang="en-US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• Smartphone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photos have variable lighting, motion blur, and occlusion</a:t>
            </a:r>
          </a:p>
          <a:p>
            <a:pPr>
              <a:lnSpc>
                <a:spcPct val="150000"/>
              </a:lnSpc>
            </a:pPr>
            <a:r>
              <a:rPr lang="en-US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• Disease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symptoms vary in severity and presentation in field </a:t>
            </a:r>
            <a:r>
              <a:rPr lang="en-US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conditions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• A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 trained only on lab data exhibits significant accuracy drop on field images</a:t>
            </a:r>
          </a:p>
        </p:txBody>
      </p:sp>
      <p:pic>
        <p:nvPicPr>
          <p:cNvPr id="15" name="Picture 14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036" r="20715" b="32024"/>
          <a:stretch/>
        </p:blipFill>
        <p:spPr>
          <a:xfrm>
            <a:off x="7678948" y="1029959"/>
            <a:ext cx="3666225" cy="2113470"/>
          </a:xfrm>
          <a:prstGeom prst="rect">
            <a:avLst/>
          </a:prstGeom>
        </p:spPr>
      </p:pic>
      <p:pic>
        <p:nvPicPr>
          <p:cNvPr id="2060" name="Picture 12" descr="Cercospora Leaf Spot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210" r="8314"/>
          <a:stretch/>
        </p:blipFill>
        <p:spPr bwMode="auto">
          <a:xfrm>
            <a:off x="7657381" y="3755331"/>
            <a:ext cx="3709358" cy="21307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7" name="Straight Arrow Connector 16"/>
          <p:cNvCxnSpPr/>
          <p:nvPr/>
        </p:nvCxnSpPr>
        <p:spPr>
          <a:xfrm>
            <a:off x="9532190" y="3138621"/>
            <a:ext cx="8626" cy="616710"/>
          </a:xfrm>
          <a:prstGeom prst="straightConnector1">
            <a:avLst/>
          </a:prstGeom>
          <a:ln w="158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11903978" y="167780"/>
            <a:ext cx="312906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9</a:t>
            </a:r>
            <a:endParaRPr lang="en-IN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051910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sz="half" idx="1"/>
          </p:nvPr>
        </p:nvSpPr>
        <p:spPr>
          <a:xfrm>
            <a:off x="838200" y="819509"/>
            <a:ext cx="4725838" cy="5357454"/>
          </a:xfrm>
          <a:ln>
            <a:solidFill>
              <a:schemeClr val="tx1"/>
            </a:solidFill>
          </a:ln>
        </p:spPr>
        <p:txBody>
          <a:bodyPr>
            <a:normAutofit fontScale="47500" lnSpcReduction="20000"/>
          </a:bodyPr>
          <a:lstStyle/>
          <a:p>
            <a:pPr marL="0" indent="0" algn="just">
              <a:lnSpc>
                <a:spcPct val="120000"/>
              </a:lnSpc>
              <a:buNone/>
            </a:pPr>
            <a:r>
              <a:rPr lang="en-US" sz="3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Image Capture </a:t>
            </a:r>
            <a:r>
              <a:rPr lang="en-US" sz="33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Guidelines</a:t>
            </a:r>
            <a:endParaRPr lang="en-IN" sz="33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20000"/>
              </a:lnSpc>
              <a:buNone/>
            </a:pPr>
            <a:r>
              <a:rPr lang="en-US" sz="2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Device and Format:</a:t>
            </a:r>
            <a:endParaRPr lang="en-IN" sz="29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algn="just">
              <a:lnSpc>
                <a:spcPct val="120000"/>
              </a:lnSpc>
              <a:buNone/>
            </a:pPr>
            <a:r>
              <a:rPr lang="en-US" sz="2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Captured using </a:t>
            </a:r>
            <a:r>
              <a:rPr lang="en-US" sz="2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smartphone cameras </a:t>
            </a:r>
            <a:r>
              <a:rPr lang="en-US" sz="2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(standard devices farmers use)</a:t>
            </a:r>
            <a:endParaRPr lang="en-IN" sz="2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algn="just">
              <a:lnSpc>
                <a:spcPct val="120000"/>
              </a:lnSpc>
              <a:buNone/>
            </a:pPr>
            <a:r>
              <a:rPr lang="en-US" sz="2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JPEG format</a:t>
            </a:r>
            <a:r>
              <a:rPr lang="en-US" sz="2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9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720P, 1080p </a:t>
            </a:r>
            <a:r>
              <a:rPr lang="en-US" sz="2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 higher resolution</a:t>
            </a:r>
            <a:endParaRPr lang="en-IN" sz="2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algn="just">
              <a:lnSpc>
                <a:spcPct val="120000"/>
              </a:lnSpc>
              <a:buNone/>
            </a:pPr>
            <a:r>
              <a:rPr lang="en-US" sz="2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Natural outdoor lighting conditions (sun, shade, mixed)</a:t>
            </a:r>
            <a:endParaRPr lang="en-IN" sz="2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algn="just">
              <a:lnSpc>
                <a:spcPct val="120000"/>
              </a:lnSpc>
              <a:buNone/>
            </a:pPr>
            <a:r>
              <a:rPr lang="en-US" sz="2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 special equipment </a:t>
            </a:r>
            <a:r>
              <a:rPr lang="en-US" sz="2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(macro lenses, studio setups, controlled lighting)</a:t>
            </a:r>
            <a:endParaRPr lang="en-IN" sz="2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20000"/>
              </a:lnSpc>
              <a:buNone/>
            </a:pPr>
            <a:r>
              <a:rPr lang="en-US" sz="2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Capture Scenarios (Per Disease/Healthy Class):</a:t>
            </a:r>
            <a:endParaRPr lang="en-IN" sz="29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20000"/>
              </a:lnSpc>
              <a:buNone/>
            </a:pPr>
            <a:r>
              <a:rPr lang="en-US" sz="2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each crop–disease–healthy combination, collect images across three view types:</a:t>
            </a:r>
            <a:endParaRPr lang="en-IN" sz="2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algn="just">
              <a:lnSpc>
                <a:spcPct val="120000"/>
              </a:lnSpc>
              <a:buNone/>
            </a:pPr>
            <a:r>
              <a:rPr lang="en-US" sz="2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Close-up leaf view </a:t>
            </a:r>
            <a:r>
              <a:rPr lang="en-US" sz="2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(15–30 cm distance): Individual leaf clearly visible, background includes partial plant/soil</a:t>
            </a:r>
            <a:endParaRPr lang="en-IN" sz="2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algn="just">
              <a:lnSpc>
                <a:spcPct val="120000"/>
              </a:lnSpc>
              <a:buNone/>
            </a:pPr>
            <a:r>
              <a:rPr lang="en-US" sz="2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Mid-range plant view </a:t>
            </a:r>
            <a:r>
              <a:rPr lang="en-US" sz="2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(50–100 cm distance): Multiple leaves visible, entire plant section or crown visible, like your Corn Health example</a:t>
            </a:r>
            <a:endParaRPr lang="en-IN" sz="2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algn="just">
              <a:lnSpc>
                <a:spcPct val="120000"/>
              </a:lnSpc>
              <a:buNone/>
            </a:pPr>
            <a:r>
              <a:rPr lang="en-US" sz="2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Plot/field view </a:t>
            </a:r>
            <a:r>
              <a:rPr lang="en-US" sz="2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(1–3 meters distance): Whole plant or plant row, field/farm context </a:t>
            </a:r>
            <a:r>
              <a:rPr lang="en-US" sz="29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visible</a:t>
            </a:r>
            <a:endParaRPr lang="en-IN" sz="2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Content Placeholder 5"/>
          <p:cNvSpPr>
            <a:spLocks noGrp="1"/>
          </p:cNvSpPr>
          <p:nvPr>
            <p:ph sz="half" idx="2"/>
          </p:nvPr>
        </p:nvSpPr>
        <p:spPr>
          <a:xfrm>
            <a:off x="6172200" y="819509"/>
            <a:ext cx="4826479" cy="5357454"/>
          </a:xfrm>
          <a:ln>
            <a:solidFill>
              <a:schemeClr val="tx1"/>
            </a:solidFill>
          </a:ln>
        </p:spPr>
        <p:txBody>
          <a:bodyPr>
            <a:normAutofit fontScale="47500" lnSpcReduction="20000"/>
          </a:bodyPr>
          <a:lstStyle/>
          <a:p>
            <a:pPr marL="0" indent="0" algn="just">
              <a:lnSpc>
                <a:spcPct val="120000"/>
              </a:lnSpc>
              <a:buNone/>
            </a:pPr>
            <a:r>
              <a:rPr lang="en-US" sz="3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Target </a:t>
            </a:r>
            <a:r>
              <a:rPr lang="en-US" sz="3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Image Count Per </a:t>
            </a:r>
            <a:r>
              <a:rPr lang="en-US" sz="3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Class</a:t>
            </a:r>
            <a:endParaRPr lang="en-IN" sz="3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20000"/>
              </a:lnSpc>
              <a:buNone/>
            </a:pPr>
            <a:r>
              <a:rPr lang="en-US" sz="2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Minimum (Starting Point):</a:t>
            </a:r>
            <a:endParaRPr lang="en-IN" sz="29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algn="just">
              <a:lnSpc>
                <a:spcPct val="120000"/>
              </a:lnSpc>
              <a:buNone/>
            </a:pPr>
            <a:r>
              <a:rPr lang="en-US" sz="2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200–300 field images per disease/healthy class</a:t>
            </a:r>
            <a:endParaRPr lang="en-IN" sz="2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algn="just">
              <a:lnSpc>
                <a:spcPct val="120000"/>
              </a:lnSpc>
              <a:buNone/>
            </a:pPr>
            <a:r>
              <a:rPr lang="en-US" sz="2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Total per crop: ~1,000–1,500 images (mix of diseases + healthy)</a:t>
            </a:r>
            <a:endParaRPr lang="en-IN" sz="2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20000"/>
              </a:lnSpc>
              <a:buNone/>
            </a:pPr>
            <a:r>
              <a:rPr lang="en-US" sz="2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Recommended (Good Deployment Performance):</a:t>
            </a:r>
            <a:endParaRPr lang="en-IN" sz="29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algn="just">
              <a:lnSpc>
                <a:spcPct val="120000"/>
              </a:lnSpc>
              <a:buNone/>
            </a:pPr>
            <a:r>
              <a:rPr lang="en-US" sz="2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1500–2,500 field images per disease/healthy class</a:t>
            </a:r>
            <a:endParaRPr lang="en-IN" sz="2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algn="just">
              <a:lnSpc>
                <a:spcPct val="120000"/>
              </a:lnSpc>
              <a:buNone/>
            </a:pPr>
            <a:r>
              <a:rPr lang="en-US" sz="2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Total per crop: ~8,500–10,000 images</a:t>
            </a:r>
            <a:endParaRPr lang="en-IN" sz="2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20000"/>
              </a:lnSpc>
              <a:buNone/>
            </a:pPr>
            <a:r>
              <a:rPr lang="en-US" sz="2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Priority Order for Initial Collection:</a:t>
            </a:r>
            <a:endParaRPr lang="en-IN" sz="29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algn="just">
              <a:lnSpc>
                <a:spcPct val="120000"/>
              </a:lnSpc>
              <a:buNone/>
            </a:pPr>
            <a:r>
              <a:rPr lang="en-US" sz="2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 Priority (First Phase): </a:t>
            </a:r>
            <a:r>
              <a:rPr lang="en-US" sz="29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Coconut </a:t>
            </a:r>
            <a:r>
              <a:rPr lang="en-US" sz="2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(Healthy, Bud Rot, Gray Leaf spot, Leaf Rot, Stem Bleeding, White fly), Cotton (Bacterial Blight, Curl virus, </a:t>
            </a:r>
            <a:r>
              <a:rPr lang="en-US" sz="2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Fussarium</a:t>
            </a:r>
            <a:r>
              <a:rPr lang="en-US" sz="2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wilt, Healthy), Corn (Grey Leaf Spot)</a:t>
            </a:r>
            <a:endParaRPr lang="en-IN" sz="2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algn="just">
              <a:lnSpc>
                <a:spcPct val="120000"/>
              </a:lnSpc>
              <a:buNone/>
            </a:pPr>
            <a:r>
              <a:rPr lang="en-US" sz="2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Medium Priority (Phase 2): </a:t>
            </a:r>
            <a:r>
              <a:rPr lang="en-US" sz="29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Coffee </a:t>
            </a:r>
            <a:r>
              <a:rPr lang="en-US" sz="2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(field images), Tomato (field images)</a:t>
            </a:r>
            <a:endParaRPr lang="en-IN" sz="2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algn="just">
              <a:lnSpc>
                <a:spcPct val="120000"/>
              </a:lnSpc>
              <a:buNone/>
            </a:pPr>
            <a:r>
              <a:rPr lang="en-US" sz="2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Lower Priority (Phase 3): </a:t>
            </a:r>
            <a:r>
              <a:rPr lang="en-US" sz="2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Sugarcane (all classes), Wheat (Brown Rust, </a:t>
            </a:r>
            <a:r>
              <a:rPr lang="en-US" sz="2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Septoria</a:t>
            </a:r>
            <a:r>
              <a:rPr lang="en-US" sz="2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en-IN" sz="2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algn="just">
              <a:lnSpc>
                <a:spcPct val="120000"/>
              </a:lnSpc>
              <a:buNone/>
            </a:pPr>
            <a:r>
              <a:rPr lang="en-US" sz="2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 need field-captured images of all crops and their diseases</a:t>
            </a:r>
            <a:r>
              <a:rPr lang="en-US" sz="29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IN" sz="2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1903978" y="167780"/>
            <a:ext cx="312906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30</a:t>
            </a:r>
            <a:endParaRPr lang="en-IN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105026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70167077"/>
              </p:ext>
            </p:extLst>
          </p:nvPr>
        </p:nvGraphicFramePr>
        <p:xfrm>
          <a:off x="2016619" y="1249936"/>
          <a:ext cx="9013330" cy="4351858"/>
        </p:xfrm>
        <a:graphic>
          <a:graphicData uri="http://schemas.openxmlformats.org/drawingml/2006/table">
            <a:tbl>
              <a:tblPr/>
              <a:tblGrid>
                <a:gridCol w="2507756">
                  <a:extLst>
                    <a:ext uri="{9D8B030D-6E8A-4147-A177-3AD203B41FA5}">
                      <a16:colId xmlns:a16="http://schemas.microsoft.com/office/drawing/2014/main" val="2922260481"/>
                    </a:ext>
                  </a:extLst>
                </a:gridCol>
                <a:gridCol w="6505574">
                  <a:extLst>
                    <a:ext uri="{9D8B030D-6E8A-4147-A177-3AD203B41FA5}">
                      <a16:colId xmlns:a16="http://schemas.microsoft.com/office/drawing/2014/main" val="451772910"/>
                    </a:ext>
                  </a:extLst>
                </a:gridCol>
              </a:tblGrid>
              <a:tr h="331080">
                <a:tc>
                  <a:txBody>
                    <a:bodyPr/>
                    <a:lstStyle/>
                    <a:p>
                      <a:pPr algn="ctr"/>
                      <a:r>
                        <a:rPr lang="en-IN" sz="1400" b="1" dirty="0">
                          <a:effectLst/>
                        </a:rPr>
                        <a:t>Crop</a:t>
                      </a:r>
                    </a:p>
                  </a:txBody>
                  <a:tcPr marL="59121" marR="59121" marT="59121" marB="59121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b="1" dirty="0">
                          <a:effectLst/>
                        </a:rPr>
                        <a:t>Diseases</a:t>
                      </a:r>
                    </a:p>
                  </a:txBody>
                  <a:tcPr marL="59121" marR="59121" marT="59121" marB="59121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75767065"/>
                  </a:ext>
                </a:extLst>
              </a:tr>
              <a:tr h="543917">
                <a:tc>
                  <a:txBody>
                    <a:bodyPr/>
                    <a:lstStyle/>
                    <a:p>
                      <a:pPr algn="l"/>
                      <a:r>
                        <a:rPr lang="en-IN" sz="1400" b="1" dirty="0" smtClean="0">
                          <a:effectLst/>
                        </a:rPr>
                        <a:t>Sunflower</a:t>
                      </a:r>
                      <a:endParaRPr lang="en-IN" sz="1400" dirty="0">
                        <a:effectLst/>
                      </a:endParaRPr>
                    </a:p>
                  </a:txBody>
                  <a:tcPr marL="59121" marR="59121" marT="59121" marB="59121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400" dirty="0" err="1">
                          <a:effectLst/>
                        </a:rPr>
                        <a:t>Sclerotinia</a:t>
                      </a:r>
                      <a:r>
                        <a:rPr lang="en-IN" sz="1400" dirty="0">
                          <a:effectLst/>
                        </a:rPr>
                        <a:t> stem rot, Downy mildew, Charcoal rot, Bacterial stalk rot, </a:t>
                      </a:r>
                      <a:r>
                        <a:rPr lang="en-IN" sz="1400" dirty="0" smtClean="0">
                          <a:effectLst/>
                        </a:rPr>
                        <a:t>Rust</a:t>
                      </a:r>
                      <a:endParaRPr lang="en-IN" sz="1400" dirty="0">
                        <a:effectLst/>
                      </a:endParaRPr>
                    </a:p>
                  </a:txBody>
                  <a:tcPr marL="59121" marR="59121" marT="59121" marB="59121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8815921"/>
                  </a:ext>
                </a:extLst>
              </a:tr>
              <a:tr h="543917">
                <a:tc>
                  <a:txBody>
                    <a:bodyPr/>
                    <a:lstStyle/>
                    <a:p>
                      <a:pPr algn="l"/>
                      <a:r>
                        <a:rPr lang="en-IN" sz="1400" b="1" dirty="0" smtClean="0">
                          <a:effectLst/>
                        </a:rPr>
                        <a:t>Chickpeas</a:t>
                      </a:r>
                      <a:endParaRPr lang="en-IN" sz="1400" dirty="0">
                        <a:effectLst/>
                      </a:endParaRPr>
                    </a:p>
                  </a:txBody>
                  <a:tcPr marL="59121" marR="59121" marT="59121" marB="59121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400" dirty="0" err="1">
                          <a:effectLst/>
                        </a:rPr>
                        <a:t>Ascochyta</a:t>
                      </a:r>
                      <a:r>
                        <a:rPr lang="en-IN" sz="1400" dirty="0">
                          <a:effectLst/>
                        </a:rPr>
                        <a:t> blight, </a:t>
                      </a:r>
                      <a:r>
                        <a:rPr lang="en-IN" sz="1400" dirty="0" err="1">
                          <a:effectLst/>
                        </a:rPr>
                        <a:t>Fusarium</a:t>
                      </a:r>
                      <a:r>
                        <a:rPr lang="en-IN" sz="1400" dirty="0">
                          <a:effectLst/>
                        </a:rPr>
                        <a:t> wilt, Botrytis </a:t>
                      </a:r>
                      <a:r>
                        <a:rPr lang="en-IN" sz="1400" dirty="0" err="1">
                          <a:effectLst/>
                        </a:rPr>
                        <a:t>gray</a:t>
                      </a:r>
                      <a:r>
                        <a:rPr lang="en-IN" sz="1400" dirty="0">
                          <a:effectLst/>
                        </a:rPr>
                        <a:t> </a:t>
                      </a:r>
                      <a:r>
                        <a:rPr lang="en-IN" sz="1400" dirty="0" err="1">
                          <a:effectLst/>
                        </a:rPr>
                        <a:t>mold</a:t>
                      </a:r>
                      <a:r>
                        <a:rPr lang="en-IN" sz="1400" dirty="0">
                          <a:effectLst/>
                        </a:rPr>
                        <a:t>, Root rots, </a:t>
                      </a:r>
                      <a:r>
                        <a:rPr lang="en-IN" sz="1400" dirty="0" smtClean="0">
                          <a:effectLst/>
                        </a:rPr>
                        <a:t>Rust</a:t>
                      </a:r>
                      <a:endParaRPr lang="en-IN" sz="1400" dirty="0">
                        <a:effectLst/>
                      </a:endParaRPr>
                    </a:p>
                  </a:txBody>
                  <a:tcPr marL="59121" marR="59121" marT="59121" marB="59121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23041617"/>
                  </a:ext>
                </a:extLst>
              </a:tr>
              <a:tr h="756754">
                <a:tc>
                  <a:txBody>
                    <a:bodyPr/>
                    <a:lstStyle/>
                    <a:p>
                      <a:pPr algn="l"/>
                      <a:r>
                        <a:rPr lang="en-IN" sz="1400" b="1" dirty="0" smtClean="0">
                          <a:effectLst/>
                        </a:rPr>
                        <a:t>Onions</a:t>
                      </a:r>
                      <a:endParaRPr lang="en-IN" sz="1400" dirty="0">
                        <a:effectLst/>
                      </a:endParaRPr>
                    </a:p>
                  </a:txBody>
                  <a:tcPr marL="59121" marR="59121" marT="59121" marB="59121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400" dirty="0">
                          <a:effectLst/>
                        </a:rPr>
                        <a:t>Onion yellow dwarf virus, Leek yellow stripe virus, Shallot latent virus, Iris yellow spot virus, </a:t>
                      </a:r>
                      <a:r>
                        <a:rPr lang="en-IN" sz="1400" dirty="0" smtClean="0">
                          <a:effectLst/>
                        </a:rPr>
                        <a:t>Smut</a:t>
                      </a:r>
                      <a:endParaRPr lang="en-IN" sz="1400" dirty="0">
                        <a:effectLst/>
                      </a:endParaRPr>
                    </a:p>
                  </a:txBody>
                  <a:tcPr marL="59121" marR="59121" marT="59121" marB="59121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79996937"/>
                  </a:ext>
                </a:extLst>
              </a:tr>
              <a:tr h="543917">
                <a:tc>
                  <a:txBody>
                    <a:bodyPr/>
                    <a:lstStyle/>
                    <a:p>
                      <a:pPr algn="l"/>
                      <a:r>
                        <a:rPr lang="en-IN" sz="1400" b="1" dirty="0" smtClean="0">
                          <a:effectLst/>
                        </a:rPr>
                        <a:t>Olives</a:t>
                      </a:r>
                      <a:endParaRPr lang="en-IN" sz="1400" dirty="0">
                        <a:effectLst/>
                      </a:endParaRPr>
                    </a:p>
                  </a:txBody>
                  <a:tcPr marL="59121" marR="59121" marT="59121" marB="59121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400" dirty="0" err="1">
                          <a:effectLst/>
                        </a:rPr>
                        <a:t>Verticillium</a:t>
                      </a:r>
                      <a:r>
                        <a:rPr lang="en-IN" sz="1400" dirty="0">
                          <a:effectLst/>
                        </a:rPr>
                        <a:t> wilt, Olive knot, Olive anthracnose, Peacock spot, </a:t>
                      </a:r>
                      <a:r>
                        <a:rPr lang="en-IN" sz="1400" dirty="0" err="1">
                          <a:effectLst/>
                        </a:rPr>
                        <a:t>Cycloconium</a:t>
                      </a:r>
                      <a:r>
                        <a:rPr lang="en-IN" sz="1400" dirty="0">
                          <a:effectLst/>
                        </a:rPr>
                        <a:t> leaf </a:t>
                      </a:r>
                      <a:r>
                        <a:rPr lang="en-IN" sz="1400" dirty="0" smtClean="0">
                          <a:effectLst/>
                        </a:rPr>
                        <a:t>spot</a:t>
                      </a:r>
                      <a:endParaRPr lang="en-IN" sz="1400" dirty="0">
                        <a:effectLst/>
                      </a:endParaRPr>
                    </a:p>
                  </a:txBody>
                  <a:tcPr marL="59121" marR="59121" marT="59121" marB="59121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15444261"/>
                  </a:ext>
                </a:extLst>
              </a:tr>
              <a:tr h="543917">
                <a:tc>
                  <a:txBody>
                    <a:bodyPr/>
                    <a:lstStyle/>
                    <a:p>
                      <a:pPr algn="l"/>
                      <a:r>
                        <a:rPr lang="en-IN" sz="1400" b="1" dirty="0" smtClean="0">
                          <a:effectLst/>
                        </a:rPr>
                        <a:t>Tea</a:t>
                      </a:r>
                      <a:endParaRPr lang="en-IN" sz="1400" dirty="0">
                        <a:effectLst/>
                      </a:endParaRPr>
                    </a:p>
                  </a:txBody>
                  <a:tcPr marL="59121" marR="59121" marT="59121" marB="59121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effectLst/>
                        </a:rPr>
                        <a:t>Blister blight, Root rot, Pink disease, Brown blight, Gray </a:t>
                      </a:r>
                      <a:r>
                        <a:rPr lang="en-US" sz="1400" dirty="0" smtClean="0">
                          <a:effectLst/>
                        </a:rPr>
                        <a:t>blight</a:t>
                      </a:r>
                      <a:endParaRPr lang="en-US" sz="1400" dirty="0">
                        <a:effectLst/>
                      </a:endParaRPr>
                    </a:p>
                  </a:txBody>
                  <a:tcPr marL="59121" marR="59121" marT="59121" marB="59121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25321508"/>
                  </a:ext>
                </a:extLst>
              </a:tr>
              <a:tr h="543917">
                <a:tc>
                  <a:txBody>
                    <a:bodyPr/>
                    <a:lstStyle/>
                    <a:p>
                      <a:pPr algn="l"/>
                      <a:r>
                        <a:rPr lang="en-IN" sz="1400" b="1" dirty="0" smtClean="0">
                          <a:effectLst/>
                        </a:rPr>
                        <a:t>Rubber</a:t>
                      </a:r>
                      <a:endParaRPr lang="en-IN" sz="1400" dirty="0">
                        <a:effectLst/>
                      </a:endParaRPr>
                    </a:p>
                  </a:txBody>
                  <a:tcPr marL="59121" marR="59121" marT="59121" marB="59121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effectLst/>
                        </a:rPr>
                        <a:t>White root disease, Red root disease, Basal stem rot, Black stripe, Pink </a:t>
                      </a:r>
                      <a:r>
                        <a:rPr lang="en-US" sz="1400" dirty="0" smtClean="0">
                          <a:effectLst/>
                        </a:rPr>
                        <a:t>disease</a:t>
                      </a:r>
                      <a:endParaRPr lang="en-US" sz="1400" dirty="0">
                        <a:effectLst/>
                      </a:endParaRPr>
                    </a:p>
                  </a:txBody>
                  <a:tcPr marL="59121" marR="59121" marT="59121" marB="59121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67909150"/>
                  </a:ext>
                </a:extLst>
              </a:tr>
              <a:tr h="543917">
                <a:tc>
                  <a:txBody>
                    <a:bodyPr/>
                    <a:lstStyle/>
                    <a:p>
                      <a:pPr algn="l"/>
                      <a:r>
                        <a:rPr lang="en-IN" sz="1400" b="1" dirty="0" smtClean="0">
                          <a:effectLst/>
                        </a:rPr>
                        <a:t>Potatoes</a:t>
                      </a:r>
                      <a:endParaRPr lang="en-IN" sz="1400" dirty="0">
                        <a:effectLst/>
                      </a:endParaRPr>
                    </a:p>
                  </a:txBody>
                  <a:tcPr marL="59121" marR="59121" marT="59121" marB="59121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400" dirty="0">
                          <a:effectLst/>
                        </a:rPr>
                        <a:t>Potato virus Y, Late blight, Potato </a:t>
                      </a:r>
                      <a:r>
                        <a:rPr lang="en-IN" sz="1400" dirty="0" err="1">
                          <a:effectLst/>
                        </a:rPr>
                        <a:t>leafroll</a:t>
                      </a:r>
                      <a:r>
                        <a:rPr lang="en-IN" sz="1400" dirty="0">
                          <a:effectLst/>
                        </a:rPr>
                        <a:t> virus, Potato virus M, Potato virus </a:t>
                      </a:r>
                      <a:r>
                        <a:rPr lang="en-IN" sz="1400" dirty="0" smtClean="0">
                          <a:effectLst/>
                        </a:rPr>
                        <a:t>S</a:t>
                      </a:r>
                      <a:endParaRPr lang="en-IN" sz="1400" dirty="0">
                        <a:effectLst/>
                      </a:endParaRPr>
                    </a:p>
                  </a:txBody>
                  <a:tcPr marL="59121" marR="59121" marT="59121" marB="59121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34084050"/>
                  </a:ext>
                </a:extLst>
              </a:tr>
            </a:tbl>
          </a:graphicData>
        </a:graphic>
      </p:graphicFrame>
      <p:sp>
        <p:nvSpPr>
          <p:cNvPr id="3" name="TextBox 2"/>
          <p:cNvSpPr txBox="1"/>
          <p:nvPr/>
        </p:nvSpPr>
        <p:spPr>
          <a:xfrm>
            <a:off x="11903978" y="167780"/>
            <a:ext cx="312906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31</a:t>
            </a:r>
            <a:endParaRPr lang="en-IN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845044" y="714375"/>
            <a:ext cx="492699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Other Major Crops and its diseases – dataset required</a:t>
            </a:r>
            <a:endParaRPr lang="en-IN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995242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752975" y="3167390"/>
            <a:ext cx="258545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THANK YOU !</a:t>
            </a:r>
            <a:endParaRPr lang="en-IN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225799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523</TotalTime>
  <Words>1800</Words>
  <Application>Microsoft Office PowerPoint</Application>
  <PresentationFormat>Widescreen</PresentationFormat>
  <Paragraphs>398</Paragraphs>
  <Slides>33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33</vt:i4>
      </vt:variant>
    </vt:vector>
  </HeadingPairs>
  <TitlesOfParts>
    <vt:vector size="39" baseType="lpstr">
      <vt:lpstr>Arial</vt:lpstr>
      <vt:lpstr>Calibri</vt:lpstr>
      <vt:lpstr>Calibri Light</vt:lpstr>
      <vt:lpstr>Tahoma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Agrhi-1</dc:creator>
  <cp:lastModifiedBy>Agrhi-1</cp:lastModifiedBy>
  <cp:revision>47</cp:revision>
  <dcterms:created xsi:type="dcterms:W3CDTF">2026-02-12T08:53:11Z</dcterms:created>
  <dcterms:modified xsi:type="dcterms:W3CDTF">2026-02-18T05:10:18Z</dcterms:modified>
</cp:coreProperties>
</file>